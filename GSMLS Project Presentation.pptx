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0"/>
  </p:notesMasterIdLst>
  <p:handoutMasterIdLst>
    <p:handoutMasterId r:id="rId51"/>
  </p:handoutMasterIdLst>
  <p:sldIdLst>
    <p:sldId id="334" r:id="rId5"/>
    <p:sldId id="330" r:id="rId6"/>
    <p:sldId id="332" r:id="rId7"/>
    <p:sldId id="331" r:id="rId8"/>
    <p:sldId id="333" r:id="rId9"/>
    <p:sldId id="298" r:id="rId10"/>
    <p:sldId id="262" r:id="rId11"/>
    <p:sldId id="263" r:id="rId12"/>
    <p:sldId id="299" r:id="rId13"/>
    <p:sldId id="264" r:id="rId14"/>
    <p:sldId id="349" r:id="rId15"/>
    <p:sldId id="276" r:id="rId16"/>
    <p:sldId id="341" r:id="rId17"/>
    <p:sldId id="340" r:id="rId18"/>
    <p:sldId id="350" r:id="rId19"/>
    <p:sldId id="342" r:id="rId20"/>
    <p:sldId id="344" r:id="rId21"/>
    <p:sldId id="343" r:id="rId22"/>
    <p:sldId id="284" r:id="rId23"/>
    <p:sldId id="269" r:id="rId24"/>
    <p:sldId id="304" r:id="rId25"/>
    <p:sldId id="335" r:id="rId26"/>
    <p:sldId id="305" r:id="rId27"/>
    <p:sldId id="307" r:id="rId28"/>
    <p:sldId id="308" r:id="rId29"/>
    <p:sldId id="270" r:id="rId30"/>
    <p:sldId id="353" r:id="rId31"/>
    <p:sldId id="337" r:id="rId32"/>
    <p:sldId id="338" r:id="rId33"/>
    <p:sldId id="309" r:id="rId34"/>
    <p:sldId id="339" r:id="rId35"/>
    <p:sldId id="310" r:id="rId36"/>
    <p:sldId id="345" r:id="rId37"/>
    <p:sldId id="306" r:id="rId38"/>
    <p:sldId id="336" r:id="rId39"/>
    <p:sldId id="294" r:id="rId40"/>
    <p:sldId id="296" r:id="rId41"/>
    <p:sldId id="318" r:id="rId42"/>
    <p:sldId id="288" r:id="rId43"/>
    <p:sldId id="289" r:id="rId44"/>
    <p:sldId id="320" r:id="rId45"/>
    <p:sldId id="274" r:id="rId46"/>
    <p:sldId id="352" r:id="rId47"/>
    <p:sldId id="347" r:id="rId48"/>
    <p:sldId id="329" r:id="rId49"/>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39351-B8B8-46A5-9255-9FCA2CEFD620}" v="10" dt="2025-08-07T18:08:51.22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varScale="1">
        <p:scale>
          <a:sx n="70" d="100"/>
          <a:sy n="70" d="100"/>
        </p:scale>
        <p:origin x="1373" y="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eed, Jibreel Q CIV USARMY DEVCOM AC (USA)" userId="dd27dcb6-3523-4859-a5d2-556df1dd55da" providerId="ADAL" clId="{96039351-B8B8-46A5-9255-9FCA2CEFD620}"/>
    <pc:docChg chg="undo custSel addSld delSld modSld sldOrd">
      <pc:chgData name="Hameed, Jibreel Q CIV USARMY DEVCOM AC (USA)" userId="dd27dcb6-3523-4859-a5d2-556df1dd55da" providerId="ADAL" clId="{96039351-B8B8-46A5-9255-9FCA2CEFD620}" dt="2025-08-07T21:03:19.682" v="5885" actId="20577"/>
      <pc:docMkLst>
        <pc:docMk/>
      </pc:docMkLst>
      <pc:sldChg chg="addSp modSp mod setBg">
        <pc:chgData name="Hameed, Jibreel Q CIV USARMY DEVCOM AC (USA)" userId="dd27dcb6-3523-4859-a5d2-556df1dd55da" providerId="ADAL" clId="{96039351-B8B8-46A5-9255-9FCA2CEFD620}" dt="2025-08-07T14:16:52.274" v="676" actId="26606"/>
        <pc:sldMkLst>
          <pc:docMk/>
          <pc:sldMk cId="2987552906" sldId="264"/>
        </pc:sldMkLst>
        <pc:spChg chg="mod ord">
          <ac:chgData name="Hameed, Jibreel Q CIV USARMY DEVCOM AC (USA)" userId="dd27dcb6-3523-4859-a5d2-556df1dd55da" providerId="ADAL" clId="{96039351-B8B8-46A5-9255-9FCA2CEFD620}" dt="2025-08-07T14:16:52.274" v="676" actId="26606"/>
          <ac:spMkLst>
            <pc:docMk/>
            <pc:sldMk cId="2987552906" sldId="264"/>
            <ac:spMk id="4" creationId="{EE021CA9-7CB7-1046-8FA0-21F127C19A59}"/>
          </ac:spMkLst>
        </pc:spChg>
        <pc:spChg chg="mod ord">
          <ac:chgData name="Hameed, Jibreel Q CIV USARMY DEVCOM AC (USA)" userId="dd27dcb6-3523-4859-a5d2-556df1dd55da" providerId="ADAL" clId="{96039351-B8B8-46A5-9255-9FCA2CEFD620}" dt="2025-08-07T14:16:52.274" v="676" actId="26606"/>
          <ac:spMkLst>
            <pc:docMk/>
            <pc:sldMk cId="2987552906" sldId="264"/>
            <ac:spMk id="5" creationId="{1B07C49E-AFFC-EC46-8930-E4D428F5F943}"/>
          </ac:spMkLst>
        </pc:spChg>
        <pc:spChg chg="mod">
          <ac:chgData name="Hameed, Jibreel Q CIV USARMY DEVCOM AC (USA)" userId="dd27dcb6-3523-4859-a5d2-556df1dd55da" providerId="ADAL" clId="{96039351-B8B8-46A5-9255-9FCA2CEFD620}" dt="2025-08-07T14:16:52.274" v="676" actId="26606"/>
          <ac:spMkLst>
            <pc:docMk/>
            <pc:sldMk cId="2987552906" sldId="264"/>
            <ac:spMk id="8" creationId="{2A665A13-3129-46DF-B847-F273F3E96BE6}"/>
          </ac:spMkLst>
        </pc:spChg>
        <pc:spChg chg="add">
          <ac:chgData name="Hameed, Jibreel Q CIV USARMY DEVCOM AC (USA)" userId="dd27dcb6-3523-4859-a5d2-556df1dd55da" providerId="ADAL" clId="{96039351-B8B8-46A5-9255-9FCA2CEFD620}" dt="2025-08-07T14:16:52.274" v="676" actId="26606"/>
          <ac:spMkLst>
            <pc:docMk/>
            <pc:sldMk cId="2987552906" sldId="264"/>
            <ac:spMk id="13" creationId="{100EDD19-6802-4EC3-95CE-CFFAB042CFD6}"/>
          </ac:spMkLst>
        </pc:spChg>
        <pc:spChg chg="add">
          <ac:chgData name="Hameed, Jibreel Q CIV USARMY DEVCOM AC (USA)" userId="dd27dcb6-3523-4859-a5d2-556df1dd55da" providerId="ADAL" clId="{96039351-B8B8-46A5-9255-9FCA2CEFD620}" dt="2025-08-07T14:16:52.274" v="676" actId="26606"/>
          <ac:spMkLst>
            <pc:docMk/>
            <pc:sldMk cId="2987552906" sldId="264"/>
            <ac:spMk id="15" creationId="{DB17E863-922E-4C26-BD64-E8FD41D28661}"/>
          </ac:spMkLst>
        </pc:spChg>
      </pc:sldChg>
      <pc:sldChg chg="addSp delSp modSp mod">
        <pc:chgData name="Hameed, Jibreel Q CIV USARMY DEVCOM AC (USA)" userId="dd27dcb6-3523-4859-a5d2-556df1dd55da" providerId="ADAL" clId="{96039351-B8B8-46A5-9255-9FCA2CEFD620}" dt="2025-08-07T14:16:21.155" v="675" actId="26606"/>
        <pc:sldMkLst>
          <pc:docMk/>
          <pc:sldMk cId="1578726356" sldId="265"/>
        </pc:sldMkLst>
        <pc:spChg chg="mod">
          <ac:chgData name="Hameed, Jibreel Q CIV USARMY DEVCOM AC (USA)" userId="dd27dcb6-3523-4859-a5d2-556df1dd55da" providerId="ADAL" clId="{96039351-B8B8-46A5-9255-9FCA2CEFD620}" dt="2025-08-07T14:16:21.155" v="675" actId="26606"/>
          <ac:spMkLst>
            <pc:docMk/>
            <pc:sldMk cId="1578726356" sldId="265"/>
            <ac:spMk id="3" creationId="{32405FDA-CB27-4506-BA80-B7DD00CB25C5}"/>
          </ac:spMkLst>
        </pc:spChg>
        <pc:spChg chg="mod">
          <ac:chgData name="Hameed, Jibreel Q CIV USARMY DEVCOM AC (USA)" userId="dd27dcb6-3523-4859-a5d2-556df1dd55da" providerId="ADAL" clId="{96039351-B8B8-46A5-9255-9FCA2CEFD620}" dt="2025-08-07T14:16:21.155" v="675" actId="26606"/>
          <ac:spMkLst>
            <pc:docMk/>
            <pc:sldMk cId="1578726356" sldId="265"/>
            <ac:spMk id="4" creationId="{617B1B70-690D-5945-90C2-196E1304B45D}"/>
          </ac:spMkLst>
        </pc:spChg>
        <pc:spChg chg="del">
          <ac:chgData name="Hameed, Jibreel Q CIV USARMY DEVCOM AC (USA)" userId="dd27dcb6-3523-4859-a5d2-556df1dd55da" providerId="ADAL" clId="{96039351-B8B8-46A5-9255-9FCA2CEFD620}" dt="2025-08-07T14:16:21.155" v="675" actId="26606"/>
          <ac:spMkLst>
            <pc:docMk/>
            <pc:sldMk cId="1578726356" sldId="265"/>
            <ac:spMk id="5" creationId="{1B07C49E-AFFC-EC46-8930-E4D428F5F943}"/>
          </ac:spMkLst>
        </pc:spChg>
        <pc:spChg chg="del">
          <ac:chgData name="Hameed, Jibreel Q CIV USARMY DEVCOM AC (USA)" userId="dd27dcb6-3523-4859-a5d2-556df1dd55da" providerId="ADAL" clId="{96039351-B8B8-46A5-9255-9FCA2CEFD620}" dt="2025-08-07T14:16:21.155" v="675" actId="26606"/>
          <ac:spMkLst>
            <pc:docMk/>
            <pc:sldMk cId="1578726356" sldId="265"/>
            <ac:spMk id="18" creationId="{F13C74B1-5B17-4795-BED0-7140497B445A}"/>
          </ac:spMkLst>
        </pc:spChg>
        <pc:spChg chg="del">
          <ac:chgData name="Hameed, Jibreel Q CIV USARMY DEVCOM AC (USA)" userId="dd27dcb6-3523-4859-a5d2-556df1dd55da" providerId="ADAL" clId="{96039351-B8B8-46A5-9255-9FCA2CEFD620}" dt="2025-08-07T14:16:21.155" v="675" actId="26606"/>
          <ac:spMkLst>
            <pc:docMk/>
            <pc:sldMk cId="1578726356" sldId="265"/>
            <ac:spMk id="20" creationId="{D4974D33-8DC5-464E-8C6D-BE58F0669C17}"/>
          </ac:spMkLst>
        </pc:spChg>
        <pc:spChg chg="add">
          <ac:chgData name="Hameed, Jibreel Q CIV USARMY DEVCOM AC (USA)" userId="dd27dcb6-3523-4859-a5d2-556df1dd55da" providerId="ADAL" clId="{96039351-B8B8-46A5-9255-9FCA2CEFD620}" dt="2025-08-07T14:16:21.155" v="675" actId="26606"/>
          <ac:spMkLst>
            <pc:docMk/>
            <pc:sldMk cId="1578726356" sldId="265"/>
            <ac:spMk id="26" creationId="{AFF8D2E5-2C4E-47B1-930B-6C82B7C31331}"/>
          </ac:spMkLst>
        </pc:spChg>
        <pc:spChg chg="add">
          <ac:chgData name="Hameed, Jibreel Q CIV USARMY DEVCOM AC (USA)" userId="dd27dcb6-3523-4859-a5d2-556df1dd55da" providerId="ADAL" clId="{96039351-B8B8-46A5-9255-9FCA2CEFD620}" dt="2025-08-07T14:16:21.155" v="675" actId="26606"/>
          <ac:spMkLst>
            <pc:docMk/>
            <pc:sldMk cId="1578726356" sldId="265"/>
            <ac:spMk id="28" creationId="{801E4ADA-0EA9-4930-846E-3C11E8BED6DD}"/>
          </ac:spMkLst>
        </pc:spChg>
        <pc:spChg chg="add">
          <ac:chgData name="Hameed, Jibreel Q CIV USARMY DEVCOM AC (USA)" userId="dd27dcb6-3523-4859-a5d2-556df1dd55da" providerId="ADAL" clId="{96039351-B8B8-46A5-9255-9FCA2CEFD620}" dt="2025-08-07T14:16:21.155" v="675" actId="26606"/>
          <ac:spMkLst>
            <pc:docMk/>
            <pc:sldMk cId="1578726356" sldId="265"/>
            <ac:spMk id="30" creationId="{FB92FFCE-0C90-454E-AA25-D4EE9A6C39C5}"/>
          </ac:spMkLst>
        </pc:spChg>
        <pc:graphicFrameChg chg="add">
          <ac:chgData name="Hameed, Jibreel Q CIV USARMY DEVCOM AC (USA)" userId="dd27dcb6-3523-4859-a5d2-556df1dd55da" providerId="ADAL" clId="{96039351-B8B8-46A5-9255-9FCA2CEFD620}" dt="2025-08-07T14:16:21.155" v="675" actId="26606"/>
          <ac:graphicFrameMkLst>
            <pc:docMk/>
            <pc:sldMk cId="1578726356" sldId="265"/>
            <ac:graphicFrameMk id="22" creationId="{AF556400-4253-B025-D607-FD02738737C8}"/>
          </ac:graphicFrameMkLst>
        </pc:graphicFrameChg>
        <pc:picChg chg="del">
          <ac:chgData name="Hameed, Jibreel Q CIV USARMY DEVCOM AC (USA)" userId="dd27dcb6-3523-4859-a5d2-556df1dd55da" providerId="ADAL" clId="{96039351-B8B8-46A5-9255-9FCA2CEFD620}" dt="2025-08-07T14:15:58.858" v="674" actId="478"/>
          <ac:picMkLst>
            <pc:docMk/>
            <pc:sldMk cId="1578726356" sldId="265"/>
            <ac:picMk id="7" creationId="{35A7FF1B-32D4-2C59-D5E9-8724E16FB688}"/>
          </ac:picMkLst>
        </pc:picChg>
      </pc:sldChg>
      <pc:sldChg chg="modSp mod">
        <pc:chgData name="Hameed, Jibreel Q CIV USARMY DEVCOM AC (USA)" userId="dd27dcb6-3523-4859-a5d2-556df1dd55da" providerId="ADAL" clId="{96039351-B8B8-46A5-9255-9FCA2CEFD620}" dt="2025-08-07T16:03:40.331" v="5384" actId="27636"/>
        <pc:sldMkLst>
          <pc:docMk/>
          <pc:sldMk cId="148114319" sldId="276"/>
        </pc:sldMkLst>
        <pc:spChg chg="mod">
          <ac:chgData name="Hameed, Jibreel Q CIV USARMY DEVCOM AC (USA)" userId="dd27dcb6-3523-4859-a5d2-556df1dd55da" providerId="ADAL" clId="{96039351-B8B8-46A5-9255-9FCA2CEFD620}" dt="2025-08-07T16:03:40.331" v="5384" actId="27636"/>
          <ac:spMkLst>
            <pc:docMk/>
            <pc:sldMk cId="148114319" sldId="276"/>
            <ac:spMk id="5" creationId="{1B07C49E-AFFC-EC46-8930-E4D428F5F943}"/>
          </ac:spMkLst>
        </pc:spChg>
      </pc:sldChg>
      <pc:sldChg chg="del">
        <pc:chgData name="Hameed, Jibreel Q CIV USARMY DEVCOM AC (USA)" userId="dd27dcb6-3523-4859-a5d2-556df1dd55da" providerId="ADAL" clId="{96039351-B8B8-46A5-9255-9FCA2CEFD620}" dt="2025-08-07T15:48:24.250" v="4436" actId="2696"/>
        <pc:sldMkLst>
          <pc:docMk/>
          <pc:sldMk cId="321008965" sldId="277"/>
        </pc:sldMkLst>
      </pc:sldChg>
      <pc:sldChg chg="modSp mod">
        <pc:chgData name="Hameed, Jibreel Q CIV USARMY DEVCOM AC (USA)" userId="dd27dcb6-3523-4859-a5d2-556df1dd55da" providerId="ADAL" clId="{96039351-B8B8-46A5-9255-9FCA2CEFD620}" dt="2025-08-07T19:34:11.718" v="5694" actId="20577"/>
        <pc:sldMkLst>
          <pc:docMk/>
          <pc:sldMk cId="2459446073" sldId="289"/>
        </pc:sldMkLst>
        <pc:spChg chg="mod">
          <ac:chgData name="Hameed, Jibreel Q CIV USARMY DEVCOM AC (USA)" userId="dd27dcb6-3523-4859-a5d2-556df1dd55da" providerId="ADAL" clId="{96039351-B8B8-46A5-9255-9FCA2CEFD620}" dt="2025-08-07T19:34:11.718" v="5694" actId="20577"/>
          <ac:spMkLst>
            <pc:docMk/>
            <pc:sldMk cId="2459446073" sldId="289"/>
            <ac:spMk id="5" creationId="{1B07C49E-AFFC-EC46-8930-E4D428F5F943}"/>
          </ac:spMkLst>
        </pc:spChg>
      </pc:sldChg>
      <pc:sldChg chg="del">
        <pc:chgData name="Hameed, Jibreel Q CIV USARMY DEVCOM AC (USA)" userId="dd27dcb6-3523-4859-a5d2-556df1dd55da" providerId="ADAL" clId="{96039351-B8B8-46A5-9255-9FCA2CEFD620}" dt="2025-08-07T14:45:06.716" v="1415" actId="2696"/>
        <pc:sldMkLst>
          <pc:docMk/>
          <pc:sldMk cId="1813711241" sldId="293"/>
        </pc:sldMkLst>
      </pc:sldChg>
      <pc:sldChg chg="addSp modSp mod setBg">
        <pc:chgData name="Hameed, Jibreel Q CIV USARMY DEVCOM AC (USA)" userId="dd27dcb6-3523-4859-a5d2-556df1dd55da" providerId="ADAL" clId="{96039351-B8B8-46A5-9255-9FCA2CEFD620}" dt="2025-08-07T18:10:28.209" v="5391" actId="1076"/>
        <pc:sldMkLst>
          <pc:docMk/>
          <pc:sldMk cId="3145340593" sldId="306"/>
        </pc:sldMkLst>
        <pc:spChg chg="mod">
          <ac:chgData name="Hameed, Jibreel Q CIV USARMY DEVCOM AC (USA)" userId="dd27dcb6-3523-4859-a5d2-556df1dd55da" providerId="ADAL" clId="{96039351-B8B8-46A5-9255-9FCA2CEFD620}" dt="2025-08-07T18:09:56.111" v="5387" actId="26606"/>
          <ac:spMkLst>
            <pc:docMk/>
            <pc:sldMk cId="3145340593" sldId="306"/>
            <ac:spMk id="4" creationId="{AFE7D9E4-306D-49E3-9AC4-15D566FC72AD}"/>
          </ac:spMkLst>
        </pc:spChg>
        <pc:spChg chg="mod ord">
          <ac:chgData name="Hameed, Jibreel Q CIV USARMY DEVCOM AC (USA)" userId="dd27dcb6-3523-4859-a5d2-556df1dd55da" providerId="ADAL" clId="{96039351-B8B8-46A5-9255-9FCA2CEFD620}" dt="2025-08-07T18:09:56.111" v="5387" actId="26606"/>
          <ac:spMkLst>
            <pc:docMk/>
            <pc:sldMk cId="3145340593" sldId="306"/>
            <ac:spMk id="5" creationId="{31BF7889-073A-E045-A3F2-45D63BD0FDC0}"/>
          </ac:spMkLst>
        </pc:spChg>
        <pc:spChg chg="add">
          <ac:chgData name="Hameed, Jibreel Q CIV USARMY DEVCOM AC (USA)" userId="dd27dcb6-3523-4859-a5d2-556df1dd55da" providerId="ADAL" clId="{96039351-B8B8-46A5-9255-9FCA2CEFD620}" dt="2025-08-07T18:09:56.111" v="5387" actId="26606"/>
          <ac:spMkLst>
            <pc:docMk/>
            <pc:sldMk cId="3145340593" sldId="306"/>
            <ac:spMk id="13" creationId="{88263A24-0C1F-4677-B43C-4AE14E276B27}"/>
          </ac:spMkLst>
        </pc:spChg>
        <pc:spChg chg="add">
          <ac:chgData name="Hameed, Jibreel Q CIV USARMY DEVCOM AC (USA)" userId="dd27dcb6-3523-4859-a5d2-556df1dd55da" providerId="ADAL" clId="{96039351-B8B8-46A5-9255-9FCA2CEFD620}" dt="2025-08-07T18:09:56.111" v="5387" actId="26606"/>
          <ac:spMkLst>
            <pc:docMk/>
            <pc:sldMk cId="3145340593" sldId="306"/>
            <ac:spMk id="15" creationId="{0ADDB668-2CA4-4D2B-9C34-3487CA330BA8}"/>
          </ac:spMkLst>
        </pc:spChg>
        <pc:spChg chg="add">
          <ac:chgData name="Hameed, Jibreel Q CIV USARMY DEVCOM AC (USA)" userId="dd27dcb6-3523-4859-a5d2-556df1dd55da" providerId="ADAL" clId="{96039351-B8B8-46A5-9255-9FCA2CEFD620}" dt="2025-08-07T18:09:56.111" v="5387" actId="26606"/>
          <ac:spMkLst>
            <pc:docMk/>
            <pc:sldMk cId="3145340593" sldId="306"/>
            <ac:spMk id="17" creationId="{2568BC19-F052-4108-93E1-6A3D1DEC072F}"/>
          </ac:spMkLst>
        </pc:spChg>
        <pc:spChg chg="add">
          <ac:chgData name="Hameed, Jibreel Q CIV USARMY DEVCOM AC (USA)" userId="dd27dcb6-3523-4859-a5d2-556df1dd55da" providerId="ADAL" clId="{96039351-B8B8-46A5-9255-9FCA2CEFD620}" dt="2025-08-07T18:09:56.111" v="5387" actId="26606"/>
          <ac:spMkLst>
            <pc:docMk/>
            <pc:sldMk cId="3145340593" sldId="306"/>
            <ac:spMk id="19" creationId="{D5FD337D-4D6B-4C8B-B6F5-121097E09881}"/>
          </ac:spMkLst>
        </pc:spChg>
        <pc:picChg chg="mod ord">
          <ac:chgData name="Hameed, Jibreel Q CIV USARMY DEVCOM AC (USA)" userId="dd27dcb6-3523-4859-a5d2-556df1dd55da" providerId="ADAL" clId="{96039351-B8B8-46A5-9255-9FCA2CEFD620}" dt="2025-08-07T18:10:24.562" v="5390" actId="1076"/>
          <ac:picMkLst>
            <pc:docMk/>
            <pc:sldMk cId="3145340593" sldId="306"/>
            <ac:picMk id="6" creationId="{504216F6-63E3-9FED-297D-A9294D65FF7E}"/>
          </ac:picMkLst>
        </pc:picChg>
        <pc:picChg chg="mod">
          <ac:chgData name="Hameed, Jibreel Q CIV USARMY DEVCOM AC (USA)" userId="dd27dcb6-3523-4859-a5d2-556df1dd55da" providerId="ADAL" clId="{96039351-B8B8-46A5-9255-9FCA2CEFD620}" dt="2025-08-07T18:10:28.209" v="5391" actId="1076"/>
          <ac:picMkLst>
            <pc:docMk/>
            <pc:sldMk cId="3145340593" sldId="306"/>
            <ac:picMk id="8" creationId="{9A38F78F-B3C1-4842-36D3-D0DBB85770BB}"/>
          </ac:picMkLst>
        </pc:picChg>
      </pc:sldChg>
      <pc:sldChg chg="addSp delSp modSp mod setBg">
        <pc:chgData name="Hameed, Jibreel Q CIV USARMY DEVCOM AC (USA)" userId="dd27dcb6-3523-4859-a5d2-556df1dd55da" providerId="ADAL" clId="{96039351-B8B8-46A5-9255-9FCA2CEFD620}" dt="2025-08-07T15:10:03.490" v="2795" actId="255"/>
        <pc:sldMkLst>
          <pc:docMk/>
          <pc:sldMk cId="3868402828" sldId="340"/>
        </pc:sldMkLst>
        <pc:spChg chg="mod">
          <ac:chgData name="Hameed, Jibreel Q CIV USARMY DEVCOM AC (USA)" userId="dd27dcb6-3523-4859-a5d2-556df1dd55da" providerId="ADAL" clId="{96039351-B8B8-46A5-9255-9FCA2CEFD620}" dt="2025-08-07T15:09:50.360" v="2793" actId="26606"/>
          <ac:spMkLst>
            <pc:docMk/>
            <pc:sldMk cId="3868402828" sldId="340"/>
            <ac:spMk id="3" creationId="{D5C5E614-B746-7D0A-1B73-F1E4707EAE4A}"/>
          </ac:spMkLst>
        </pc:spChg>
        <pc:spChg chg="mod ord">
          <ac:chgData name="Hameed, Jibreel Q CIV USARMY DEVCOM AC (USA)" userId="dd27dcb6-3523-4859-a5d2-556df1dd55da" providerId="ADAL" clId="{96039351-B8B8-46A5-9255-9FCA2CEFD620}" dt="2025-08-07T15:09:50.360" v="2793" actId="26606"/>
          <ac:spMkLst>
            <pc:docMk/>
            <pc:sldMk cId="3868402828" sldId="340"/>
            <ac:spMk id="4" creationId="{DA6BB39A-38F2-57FF-1E72-793DB03D5163}"/>
          </ac:spMkLst>
        </pc:spChg>
        <pc:spChg chg="mod ord">
          <ac:chgData name="Hameed, Jibreel Q CIV USARMY DEVCOM AC (USA)" userId="dd27dcb6-3523-4859-a5d2-556df1dd55da" providerId="ADAL" clId="{96039351-B8B8-46A5-9255-9FCA2CEFD620}" dt="2025-08-07T15:10:03.490" v="2795" actId="255"/>
          <ac:spMkLst>
            <pc:docMk/>
            <pc:sldMk cId="3868402828" sldId="340"/>
            <ac:spMk id="5" creationId="{658E0EF5-3016-0C3E-5D09-7CE09A42C229}"/>
          </ac:spMkLst>
        </pc:spChg>
        <pc:spChg chg="add">
          <ac:chgData name="Hameed, Jibreel Q CIV USARMY DEVCOM AC (USA)" userId="dd27dcb6-3523-4859-a5d2-556df1dd55da" providerId="ADAL" clId="{96039351-B8B8-46A5-9255-9FCA2CEFD620}" dt="2025-08-07T15:09:50.360" v="2793" actId="26606"/>
          <ac:spMkLst>
            <pc:docMk/>
            <pc:sldMk cId="3868402828" sldId="340"/>
            <ac:spMk id="12" creationId="{45D37F4E-DDB4-456B-97E0-9937730A039F}"/>
          </ac:spMkLst>
        </pc:spChg>
        <pc:spChg chg="add">
          <ac:chgData name="Hameed, Jibreel Q CIV USARMY DEVCOM AC (USA)" userId="dd27dcb6-3523-4859-a5d2-556df1dd55da" providerId="ADAL" clId="{96039351-B8B8-46A5-9255-9FCA2CEFD620}" dt="2025-08-07T15:09:50.360" v="2793" actId="26606"/>
          <ac:spMkLst>
            <pc:docMk/>
            <pc:sldMk cId="3868402828" sldId="340"/>
            <ac:spMk id="14" creationId="{B2DD41CD-8F47-4F56-AD12-4E2FF7696987}"/>
          </ac:spMkLst>
        </pc:spChg>
        <pc:picChg chg="del">
          <ac:chgData name="Hameed, Jibreel Q CIV USARMY DEVCOM AC (USA)" userId="dd27dcb6-3523-4859-a5d2-556df1dd55da" providerId="ADAL" clId="{96039351-B8B8-46A5-9255-9FCA2CEFD620}" dt="2025-08-07T14:49:10.509" v="1583" actId="478"/>
          <ac:picMkLst>
            <pc:docMk/>
            <pc:sldMk cId="3868402828" sldId="340"/>
            <ac:picMk id="6" creationId="{9B74685F-2B3E-280C-44B8-67DEA088530D}"/>
          </ac:picMkLst>
        </pc:picChg>
        <pc:picChg chg="add mod">
          <ac:chgData name="Hameed, Jibreel Q CIV USARMY DEVCOM AC (USA)" userId="dd27dcb6-3523-4859-a5d2-556df1dd55da" providerId="ADAL" clId="{96039351-B8B8-46A5-9255-9FCA2CEFD620}" dt="2025-08-07T15:09:50.360" v="2793" actId="26606"/>
          <ac:picMkLst>
            <pc:docMk/>
            <pc:sldMk cId="3868402828" sldId="340"/>
            <ac:picMk id="7" creationId="{16EEE2AD-F775-0708-FAFF-B7F0A30094BB}"/>
          </ac:picMkLst>
        </pc:picChg>
      </pc:sldChg>
      <pc:sldChg chg="modSp mod">
        <pc:chgData name="Hameed, Jibreel Q CIV USARMY DEVCOM AC (USA)" userId="dd27dcb6-3523-4859-a5d2-556df1dd55da" providerId="ADAL" clId="{96039351-B8B8-46A5-9255-9FCA2CEFD620}" dt="2025-08-07T14:34:07.136" v="1392" actId="1037"/>
        <pc:sldMkLst>
          <pc:docMk/>
          <pc:sldMk cId="3118641400" sldId="341"/>
        </pc:sldMkLst>
        <pc:spChg chg="mod">
          <ac:chgData name="Hameed, Jibreel Q CIV USARMY DEVCOM AC (USA)" userId="dd27dcb6-3523-4859-a5d2-556df1dd55da" providerId="ADAL" clId="{96039351-B8B8-46A5-9255-9FCA2CEFD620}" dt="2025-08-07T14:34:07.136" v="1392" actId="1037"/>
          <ac:spMkLst>
            <pc:docMk/>
            <pc:sldMk cId="3118641400" sldId="341"/>
            <ac:spMk id="6" creationId="{0D77FEC8-5D35-72B5-6D62-7B1775589689}"/>
          </ac:spMkLst>
        </pc:spChg>
        <pc:spChg chg="mod">
          <ac:chgData name="Hameed, Jibreel Q CIV USARMY DEVCOM AC (USA)" userId="dd27dcb6-3523-4859-a5d2-556df1dd55da" providerId="ADAL" clId="{96039351-B8B8-46A5-9255-9FCA2CEFD620}" dt="2025-08-07T14:18:31.077" v="706" actId="20577"/>
          <ac:spMkLst>
            <pc:docMk/>
            <pc:sldMk cId="3118641400" sldId="341"/>
            <ac:spMk id="7" creationId="{416C68EB-19BA-0D2C-92B4-46C328EECC4D}"/>
          </ac:spMkLst>
        </pc:spChg>
      </pc:sldChg>
      <pc:sldChg chg="modSp mod">
        <pc:chgData name="Hameed, Jibreel Q CIV USARMY DEVCOM AC (USA)" userId="dd27dcb6-3523-4859-a5d2-556df1dd55da" providerId="ADAL" clId="{96039351-B8B8-46A5-9255-9FCA2CEFD620}" dt="2025-08-07T15:35:14.095" v="4045" actId="20577"/>
        <pc:sldMkLst>
          <pc:docMk/>
          <pc:sldMk cId="1633564304" sldId="342"/>
        </pc:sldMkLst>
        <pc:spChg chg="mod">
          <ac:chgData name="Hameed, Jibreel Q CIV USARMY DEVCOM AC (USA)" userId="dd27dcb6-3523-4859-a5d2-556df1dd55da" providerId="ADAL" clId="{96039351-B8B8-46A5-9255-9FCA2CEFD620}" dt="2025-08-07T15:35:14.095" v="4045" actId="20577"/>
          <ac:spMkLst>
            <pc:docMk/>
            <pc:sldMk cId="1633564304" sldId="342"/>
            <ac:spMk id="5" creationId="{0F587164-2B34-AFAD-FDCE-F9E2213BA376}"/>
          </ac:spMkLst>
        </pc:spChg>
      </pc:sldChg>
      <pc:sldChg chg="addSp delSp modSp mod">
        <pc:chgData name="Hameed, Jibreel Q CIV USARMY DEVCOM AC (USA)" userId="dd27dcb6-3523-4859-a5d2-556df1dd55da" providerId="ADAL" clId="{96039351-B8B8-46A5-9255-9FCA2CEFD620}" dt="2025-08-07T18:08:51.221" v="5386"/>
        <pc:sldMkLst>
          <pc:docMk/>
          <pc:sldMk cId="1865983932" sldId="343"/>
        </pc:sldMkLst>
        <pc:spChg chg="mod">
          <ac:chgData name="Hameed, Jibreel Q CIV USARMY DEVCOM AC (USA)" userId="dd27dcb6-3523-4859-a5d2-556df1dd55da" providerId="ADAL" clId="{96039351-B8B8-46A5-9255-9FCA2CEFD620}" dt="2025-08-07T15:48:46.781" v="4437" actId="26606"/>
          <ac:spMkLst>
            <pc:docMk/>
            <pc:sldMk cId="1865983932" sldId="343"/>
            <ac:spMk id="4" creationId="{CF3E7517-F54C-5AD3-47C2-8B872FCEC0F9}"/>
          </ac:spMkLst>
        </pc:spChg>
        <pc:spChg chg="mod">
          <ac:chgData name="Hameed, Jibreel Q CIV USARMY DEVCOM AC (USA)" userId="dd27dcb6-3523-4859-a5d2-556df1dd55da" providerId="ADAL" clId="{96039351-B8B8-46A5-9255-9FCA2CEFD620}" dt="2025-08-07T18:08:51.221" v="5386"/>
          <ac:spMkLst>
            <pc:docMk/>
            <pc:sldMk cId="1865983932" sldId="343"/>
            <ac:spMk id="5" creationId="{232D9E4C-869D-A690-1D93-45AA891FF3CD}"/>
          </ac:spMkLst>
        </pc:spChg>
        <pc:spChg chg="del">
          <ac:chgData name="Hameed, Jibreel Q CIV USARMY DEVCOM AC (USA)" userId="dd27dcb6-3523-4859-a5d2-556df1dd55da" providerId="ADAL" clId="{96039351-B8B8-46A5-9255-9FCA2CEFD620}" dt="2025-08-07T15:48:46.781" v="4437" actId="26606"/>
          <ac:spMkLst>
            <pc:docMk/>
            <pc:sldMk cId="1865983932" sldId="343"/>
            <ac:spMk id="12" creationId="{DBC6133C-0615-4CE4-9132-37E609A9BDFA}"/>
          </ac:spMkLst>
        </pc:spChg>
        <pc:spChg chg="del">
          <ac:chgData name="Hameed, Jibreel Q CIV USARMY DEVCOM AC (USA)" userId="dd27dcb6-3523-4859-a5d2-556df1dd55da" providerId="ADAL" clId="{96039351-B8B8-46A5-9255-9FCA2CEFD620}" dt="2025-08-07T15:48:46.781" v="4437" actId="26606"/>
          <ac:spMkLst>
            <pc:docMk/>
            <pc:sldMk cId="1865983932" sldId="343"/>
            <ac:spMk id="14" creationId="{169CC832-2974-4E8D-90ED-3E2941BA7336}"/>
          </ac:spMkLst>
        </pc:spChg>
        <pc:spChg chg="del">
          <ac:chgData name="Hameed, Jibreel Q CIV USARMY DEVCOM AC (USA)" userId="dd27dcb6-3523-4859-a5d2-556df1dd55da" providerId="ADAL" clId="{96039351-B8B8-46A5-9255-9FCA2CEFD620}" dt="2025-08-07T15:48:46.781" v="4437" actId="26606"/>
          <ac:spMkLst>
            <pc:docMk/>
            <pc:sldMk cId="1865983932" sldId="343"/>
            <ac:spMk id="18" creationId="{08980754-6F4B-43C9-B9BE-127B6BED6586}"/>
          </ac:spMkLst>
        </pc:spChg>
        <pc:spChg chg="del">
          <ac:chgData name="Hameed, Jibreel Q CIV USARMY DEVCOM AC (USA)" userId="dd27dcb6-3523-4859-a5d2-556df1dd55da" providerId="ADAL" clId="{96039351-B8B8-46A5-9255-9FCA2CEFD620}" dt="2025-08-07T15:48:46.781" v="4437" actId="26606"/>
          <ac:spMkLst>
            <pc:docMk/>
            <pc:sldMk cId="1865983932" sldId="343"/>
            <ac:spMk id="20" creationId="{2C1BBA94-3F40-40AA-8BB9-E69E25E537C1}"/>
          </ac:spMkLst>
        </pc:spChg>
        <pc:spChg chg="add">
          <ac:chgData name="Hameed, Jibreel Q CIV USARMY DEVCOM AC (USA)" userId="dd27dcb6-3523-4859-a5d2-556df1dd55da" providerId="ADAL" clId="{96039351-B8B8-46A5-9255-9FCA2CEFD620}" dt="2025-08-07T15:48:46.781" v="4437" actId="26606"/>
          <ac:spMkLst>
            <pc:docMk/>
            <pc:sldMk cId="1865983932" sldId="343"/>
            <ac:spMk id="25" creationId="{AAAE94E3-A7DB-4868-B1E3-E49703488BBC}"/>
          </ac:spMkLst>
        </pc:spChg>
        <pc:spChg chg="add">
          <ac:chgData name="Hameed, Jibreel Q CIV USARMY DEVCOM AC (USA)" userId="dd27dcb6-3523-4859-a5d2-556df1dd55da" providerId="ADAL" clId="{96039351-B8B8-46A5-9255-9FCA2CEFD620}" dt="2025-08-07T15:48:46.781" v="4437" actId="26606"/>
          <ac:spMkLst>
            <pc:docMk/>
            <pc:sldMk cId="1865983932" sldId="343"/>
            <ac:spMk id="31" creationId="{3873B707-463F-40B0-8227-E8CC6C67EB25}"/>
          </ac:spMkLst>
        </pc:spChg>
        <pc:spChg chg="add">
          <ac:chgData name="Hameed, Jibreel Q CIV USARMY DEVCOM AC (USA)" userId="dd27dcb6-3523-4859-a5d2-556df1dd55da" providerId="ADAL" clId="{96039351-B8B8-46A5-9255-9FCA2CEFD620}" dt="2025-08-07T15:48:46.781" v="4437" actId="26606"/>
          <ac:spMkLst>
            <pc:docMk/>
            <pc:sldMk cId="1865983932" sldId="343"/>
            <ac:spMk id="35" creationId="{19C9EAEA-39D0-4B0E-A0EB-51E7B26740B1}"/>
          </ac:spMkLst>
        </pc:spChg>
        <pc:spChg chg="add">
          <ac:chgData name="Hameed, Jibreel Q CIV USARMY DEVCOM AC (USA)" userId="dd27dcb6-3523-4859-a5d2-556df1dd55da" providerId="ADAL" clId="{96039351-B8B8-46A5-9255-9FCA2CEFD620}" dt="2025-08-07T15:48:46.781" v="4437" actId="26606"/>
          <ac:spMkLst>
            <pc:docMk/>
            <pc:sldMk cId="1865983932" sldId="343"/>
            <ac:spMk id="37" creationId="{8CB5D2D7-DF65-4E86-BFBA-FFB9B5ACEB64}"/>
          </ac:spMkLst>
        </pc:spChg>
        <pc:picChg chg="add mod">
          <ac:chgData name="Hameed, Jibreel Q CIV USARMY DEVCOM AC (USA)" userId="dd27dcb6-3523-4859-a5d2-556df1dd55da" providerId="ADAL" clId="{96039351-B8B8-46A5-9255-9FCA2CEFD620}" dt="2025-08-07T15:48:56.822" v="4439" actId="27614"/>
          <ac:picMkLst>
            <pc:docMk/>
            <pc:sldMk cId="1865983932" sldId="343"/>
            <ac:picMk id="6" creationId="{6A60CB11-C54C-35F3-649B-B2244AFFDCE6}"/>
          </ac:picMkLst>
        </pc:picChg>
        <pc:picChg chg="mod">
          <ac:chgData name="Hameed, Jibreel Q CIV USARMY DEVCOM AC (USA)" userId="dd27dcb6-3523-4859-a5d2-556df1dd55da" providerId="ADAL" clId="{96039351-B8B8-46A5-9255-9FCA2CEFD620}" dt="2025-08-07T15:48:56.820" v="4438" actId="27614"/>
          <ac:picMkLst>
            <pc:docMk/>
            <pc:sldMk cId="1865983932" sldId="343"/>
            <ac:picMk id="7" creationId="{0D700F95-35AC-9502-25FD-92B4B41CB028}"/>
          </ac:picMkLst>
        </pc:picChg>
      </pc:sldChg>
      <pc:sldChg chg="modSp mod">
        <pc:chgData name="Hameed, Jibreel Q CIV USARMY DEVCOM AC (USA)" userId="dd27dcb6-3523-4859-a5d2-556df1dd55da" providerId="ADAL" clId="{96039351-B8B8-46A5-9255-9FCA2CEFD620}" dt="2025-08-07T15:44:53.331" v="4414" actId="207"/>
        <pc:sldMkLst>
          <pc:docMk/>
          <pc:sldMk cId="295595975" sldId="344"/>
        </pc:sldMkLst>
        <pc:spChg chg="mod">
          <ac:chgData name="Hameed, Jibreel Q CIV USARMY DEVCOM AC (USA)" userId="dd27dcb6-3523-4859-a5d2-556df1dd55da" providerId="ADAL" clId="{96039351-B8B8-46A5-9255-9FCA2CEFD620}" dt="2025-08-07T15:44:53.331" v="4414" actId="207"/>
          <ac:spMkLst>
            <pc:docMk/>
            <pc:sldMk cId="295595975" sldId="344"/>
            <ac:spMk id="5" creationId="{C21B592B-3AEF-AB9C-9D0C-906073ACB951}"/>
          </ac:spMkLst>
        </pc:spChg>
      </pc:sldChg>
      <pc:sldChg chg="modSp add del mod">
        <pc:chgData name="Hameed, Jibreel Q CIV USARMY DEVCOM AC (USA)" userId="dd27dcb6-3523-4859-a5d2-556df1dd55da" providerId="ADAL" clId="{96039351-B8B8-46A5-9255-9FCA2CEFD620}" dt="2025-08-07T14:34:58.520" v="1405" actId="2696"/>
        <pc:sldMkLst>
          <pc:docMk/>
          <pc:sldMk cId="123350441" sldId="348"/>
        </pc:sldMkLst>
        <pc:spChg chg="mod">
          <ac:chgData name="Hameed, Jibreel Q CIV USARMY DEVCOM AC (USA)" userId="dd27dcb6-3523-4859-a5d2-556df1dd55da" providerId="ADAL" clId="{96039351-B8B8-46A5-9255-9FCA2CEFD620}" dt="2025-08-07T14:12:01.289" v="673" actId="20577"/>
          <ac:spMkLst>
            <pc:docMk/>
            <pc:sldMk cId="123350441" sldId="348"/>
            <ac:spMk id="5" creationId="{E16E2DD6-A8AA-580B-06B2-6556C60C3D4E}"/>
          </ac:spMkLst>
        </pc:spChg>
        <pc:spChg chg="mod">
          <ac:chgData name="Hameed, Jibreel Q CIV USARMY DEVCOM AC (USA)" userId="dd27dcb6-3523-4859-a5d2-556df1dd55da" providerId="ADAL" clId="{96039351-B8B8-46A5-9255-9FCA2CEFD620}" dt="2025-08-07T14:04:13.992" v="163" actId="20577"/>
          <ac:spMkLst>
            <pc:docMk/>
            <pc:sldMk cId="123350441" sldId="348"/>
            <ac:spMk id="8" creationId="{12EB96A7-9F80-793F-D9EB-44A935EB29FB}"/>
          </ac:spMkLst>
        </pc:spChg>
      </pc:sldChg>
      <pc:sldChg chg="modSp add mod">
        <pc:chgData name="Hameed, Jibreel Q CIV USARMY DEVCOM AC (USA)" userId="dd27dcb6-3523-4859-a5d2-556df1dd55da" providerId="ADAL" clId="{96039351-B8B8-46A5-9255-9FCA2CEFD620}" dt="2025-08-07T14:34:53.609" v="1404"/>
        <pc:sldMkLst>
          <pc:docMk/>
          <pc:sldMk cId="3969145213" sldId="349"/>
        </pc:sldMkLst>
        <pc:spChg chg="mod">
          <ac:chgData name="Hameed, Jibreel Q CIV USARMY DEVCOM AC (USA)" userId="dd27dcb6-3523-4859-a5d2-556df1dd55da" providerId="ADAL" clId="{96039351-B8B8-46A5-9255-9FCA2CEFD620}" dt="2025-08-07T14:34:53.609" v="1404"/>
          <ac:spMkLst>
            <pc:docMk/>
            <pc:sldMk cId="3969145213" sldId="349"/>
            <ac:spMk id="5" creationId="{581F99FC-7081-EDFE-5DED-5DBAADA11FDB}"/>
          </ac:spMkLst>
        </pc:spChg>
        <pc:spChg chg="mod">
          <ac:chgData name="Hameed, Jibreel Q CIV USARMY DEVCOM AC (USA)" userId="dd27dcb6-3523-4859-a5d2-556df1dd55da" providerId="ADAL" clId="{96039351-B8B8-46A5-9255-9FCA2CEFD620}" dt="2025-08-07T14:34:50.119" v="1403" actId="20577"/>
          <ac:spMkLst>
            <pc:docMk/>
            <pc:sldMk cId="3969145213" sldId="349"/>
            <ac:spMk id="8" creationId="{FADAE79D-B84C-CA82-D9E4-1B3610084281}"/>
          </ac:spMkLst>
        </pc:spChg>
      </pc:sldChg>
      <pc:sldChg chg="addSp delSp modSp add mod">
        <pc:chgData name="Hameed, Jibreel Q CIV USARMY DEVCOM AC (USA)" userId="dd27dcb6-3523-4859-a5d2-556df1dd55da" providerId="ADAL" clId="{96039351-B8B8-46A5-9255-9FCA2CEFD620}" dt="2025-08-07T15:27:01.255" v="3587" actId="1076"/>
        <pc:sldMkLst>
          <pc:docMk/>
          <pc:sldMk cId="3566244773" sldId="350"/>
        </pc:sldMkLst>
        <pc:spChg chg="mod">
          <ac:chgData name="Hameed, Jibreel Q CIV USARMY DEVCOM AC (USA)" userId="dd27dcb6-3523-4859-a5d2-556df1dd55da" providerId="ADAL" clId="{96039351-B8B8-46A5-9255-9FCA2CEFD620}" dt="2025-08-07T14:49:24.322" v="1593" actId="20577"/>
          <ac:spMkLst>
            <pc:docMk/>
            <pc:sldMk cId="3566244773" sldId="350"/>
            <ac:spMk id="3" creationId="{4D702834-B7E5-B86F-29D4-BA412447A90B}"/>
          </ac:spMkLst>
        </pc:spChg>
        <pc:spChg chg="mod">
          <ac:chgData name="Hameed, Jibreel Q CIV USARMY DEVCOM AC (USA)" userId="dd27dcb6-3523-4859-a5d2-556df1dd55da" providerId="ADAL" clId="{96039351-B8B8-46A5-9255-9FCA2CEFD620}" dt="2025-08-07T15:20:10.920" v="3584" actId="20577"/>
          <ac:spMkLst>
            <pc:docMk/>
            <pc:sldMk cId="3566244773" sldId="350"/>
            <ac:spMk id="5" creationId="{6CAFF12E-53BF-1CFB-F8D5-A13368083814}"/>
          </ac:spMkLst>
        </pc:spChg>
        <pc:picChg chg="add mod">
          <ac:chgData name="Hameed, Jibreel Q CIV USARMY DEVCOM AC (USA)" userId="dd27dcb6-3523-4859-a5d2-556df1dd55da" providerId="ADAL" clId="{96039351-B8B8-46A5-9255-9FCA2CEFD620}" dt="2025-08-07T15:27:01.255" v="3587" actId="1076"/>
          <ac:picMkLst>
            <pc:docMk/>
            <pc:sldMk cId="3566244773" sldId="350"/>
            <ac:picMk id="2" creationId="{0020C791-0DC1-81FF-0C94-AA3E624AB8E6}"/>
          </ac:picMkLst>
        </pc:picChg>
        <pc:picChg chg="del mod">
          <ac:chgData name="Hameed, Jibreel Q CIV USARMY DEVCOM AC (USA)" userId="dd27dcb6-3523-4859-a5d2-556df1dd55da" providerId="ADAL" clId="{96039351-B8B8-46A5-9255-9FCA2CEFD620}" dt="2025-08-07T15:26:52.224" v="3585" actId="21"/>
          <ac:picMkLst>
            <pc:docMk/>
            <pc:sldMk cId="3566244773" sldId="350"/>
            <ac:picMk id="6" creationId="{19A04C60-ECC9-3427-2F5B-203BF6F10A99}"/>
          </ac:picMkLst>
        </pc:picChg>
      </pc:sldChg>
      <pc:sldChg chg="addSp delSp modSp add mod ord">
        <pc:chgData name="Hameed, Jibreel Q CIV USARMY DEVCOM AC (USA)" userId="dd27dcb6-3523-4859-a5d2-556df1dd55da" providerId="ADAL" clId="{96039351-B8B8-46A5-9255-9FCA2CEFD620}" dt="2025-08-07T21:03:19.682" v="5885" actId="20577"/>
        <pc:sldMkLst>
          <pc:docMk/>
          <pc:sldMk cId="1239656452" sldId="351"/>
        </pc:sldMkLst>
        <pc:spChg chg="mod">
          <ac:chgData name="Hameed, Jibreel Q CIV USARMY DEVCOM AC (USA)" userId="dd27dcb6-3523-4859-a5d2-556df1dd55da" providerId="ADAL" clId="{96039351-B8B8-46A5-9255-9FCA2CEFD620}" dt="2025-08-07T20:38:04.780" v="5812" actId="26606"/>
          <ac:spMkLst>
            <pc:docMk/>
            <pc:sldMk cId="1239656452" sldId="351"/>
            <ac:spMk id="4" creationId="{CF1762AA-3619-568E-07D2-F7AD1E2A73B8}"/>
          </ac:spMkLst>
        </pc:spChg>
        <pc:spChg chg="mod">
          <ac:chgData name="Hameed, Jibreel Q CIV USARMY DEVCOM AC (USA)" userId="dd27dcb6-3523-4859-a5d2-556df1dd55da" providerId="ADAL" clId="{96039351-B8B8-46A5-9255-9FCA2CEFD620}" dt="2025-08-07T21:03:19.682" v="5885" actId="20577"/>
          <ac:spMkLst>
            <pc:docMk/>
            <pc:sldMk cId="1239656452" sldId="351"/>
            <ac:spMk id="10" creationId="{B5BD210A-A851-C96B-2960-82DC8009F8C0}"/>
          </ac:spMkLst>
        </pc:spChg>
        <pc:spChg chg="add del">
          <ac:chgData name="Hameed, Jibreel Q CIV USARMY DEVCOM AC (USA)" userId="dd27dcb6-3523-4859-a5d2-556df1dd55da" providerId="ADAL" clId="{96039351-B8B8-46A5-9255-9FCA2CEFD620}" dt="2025-08-07T20:38:04.780" v="5812" actId="26606"/>
          <ac:spMkLst>
            <pc:docMk/>
            <pc:sldMk cId="1239656452" sldId="351"/>
            <ac:spMk id="29" creationId="{2BF78E21-F367-C5C7-A3DC-9EF06CA882D5}"/>
          </ac:spMkLst>
        </pc:spChg>
        <pc:spChg chg="add del">
          <ac:chgData name="Hameed, Jibreel Q CIV USARMY DEVCOM AC (USA)" userId="dd27dcb6-3523-4859-a5d2-556df1dd55da" providerId="ADAL" clId="{96039351-B8B8-46A5-9255-9FCA2CEFD620}" dt="2025-08-07T20:38:04.780" v="5812" actId="26606"/>
          <ac:spMkLst>
            <pc:docMk/>
            <pc:sldMk cId="1239656452" sldId="351"/>
            <ac:spMk id="30" creationId="{46D0279E-117C-7D14-503A-AE907DBACAA6}"/>
          </ac:spMkLst>
        </pc:spChg>
        <pc:spChg chg="add del">
          <ac:chgData name="Hameed, Jibreel Q CIV USARMY DEVCOM AC (USA)" userId="dd27dcb6-3523-4859-a5d2-556df1dd55da" providerId="ADAL" clId="{96039351-B8B8-46A5-9255-9FCA2CEFD620}" dt="2025-08-07T20:38:04.780" v="5812" actId="26606"/>
          <ac:spMkLst>
            <pc:docMk/>
            <pc:sldMk cId="1239656452" sldId="351"/>
            <ac:spMk id="31" creationId="{57A31814-EC83-D6F4-3650-37EC9059D627}"/>
          </ac:spMkLst>
        </pc:spChg>
        <pc:spChg chg="add del">
          <ac:chgData name="Hameed, Jibreel Q CIV USARMY DEVCOM AC (USA)" userId="dd27dcb6-3523-4859-a5d2-556df1dd55da" providerId="ADAL" clId="{96039351-B8B8-46A5-9255-9FCA2CEFD620}" dt="2025-08-07T20:38:04.780" v="5812" actId="26606"/>
          <ac:spMkLst>
            <pc:docMk/>
            <pc:sldMk cId="1239656452" sldId="351"/>
            <ac:spMk id="32" creationId="{79E55778-2C1B-A4E2-0723-D8355CF41F43}"/>
          </ac:spMkLst>
        </pc:spChg>
        <pc:spChg chg="add del">
          <ac:chgData name="Hameed, Jibreel Q CIV USARMY DEVCOM AC (USA)" userId="dd27dcb6-3523-4859-a5d2-556df1dd55da" providerId="ADAL" clId="{96039351-B8B8-46A5-9255-9FCA2CEFD620}" dt="2025-08-07T20:38:04.780" v="5812" actId="26606"/>
          <ac:spMkLst>
            <pc:docMk/>
            <pc:sldMk cId="1239656452" sldId="351"/>
            <ac:spMk id="33" creationId="{CEC2F992-C918-B14F-6705-49C7ACA91D8E}"/>
          </ac:spMkLst>
        </pc:spChg>
        <pc:spChg chg="add del">
          <ac:chgData name="Hameed, Jibreel Q CIV USARMY DEVCOM AC (USA)" userId="dd27dcb6-3523-4859-a5d2-556df1dd55da" providerId="ADAL" clId="{96039351-B8B8-46A5-9255-9FCA2CEFD620}" dt="2025-08-07T20:37:45.254" v="5811" actId="26606"/>
          <ac:spMkLst>
            <pc:docMk/>
            <pc:sldMk cId="1239656452" sldId="351"/>
            <ac:spMk id="35" creationId="{FB33DC6A-1F1C-4A06-834E-CFF88F1C0BB9}"/>
          </ac:spMkLst>
        </pc:spChg>
        <pc:spChg chg="add del">
          <ac:chgData name="Hameed, Jibreel Q CIV USARMY DEVCOM AC (USA)" userId="dd27dcb6-3523-4859-a5d2-556df1dd55da" providerId="ADAL" clId="{96039351-B8B8-46A5-9255-9FCA2CEFD620}" dt="2025-08-07T20:37:45.254" v="5811" actId="26606"/>
          <ac:spMkLst>
            <pc:docMk/>
            <pc:sldMk cId="1239656452" sldId="351"/>
            <ac:spMk id="36" creationId="{0FE1D5CF-87B8-4A8A-AD3C-01D06A60769B}"/>
          </ac:spMkLst>
        </pc:spChg>
        <pc:spChg chg="add del">
          <ac:chgData name="Hameed, Jibreel Q CIV USARMY DEVCOM AC (USA)" userId="dd27dcb6-3523-4859-a5d2-556df1dd55da" providerId="ADAL" clId="{96039351-B8B8-46A5-9255-9FCA2CEFD620}" dt="2025-08-07T20:36:35.249" v="5787" actId="26606"/>
          <ac:spMkLst>
            <pc:docMk/>
            <pc:sldMk cId="1239656452" sldId="351"/>
            <ac:spMk id="38" creationId="{E18F6E8B-15ED-43C7-94BA-91549A651C73}"/>
          </ac:spMkLst>
        </pc:spChg>
        <pc:spChg chg="add">
          <ac:chgData name="Hameed, Jibreel Q CIV USARMY DEVCOM AC (USA)" userId="dd27dcb6-3523-4859-a5d2-556df1dd55da" providerId="ADAL" clId="{96039351-B8B8-46A5-9255-9FCA2CEFD620}" dt="2025-08-07T20:38:04.780" v="5812" actId="26606"/>
          <ac:spMkLst>
            <pc:docMk/>
            <pc:sldMk cId="1239656452" sldId="351"/>
            <ac:spMk id="39" creationId="{88263A24-0C1F-4677-B43C-4AE14E276B27}"/>
          </ac:spMkLst>
        </pc:spChg>
        <pc:spChg chg="add">
          <ac:chgData name="Hameed, Jibreel Q CIV USARMY DEVCOM AC (USA)" userId="dd27dcb6-3523-4859-a5d2-556df1dd55da" providerId="ADAL" clId="{96039351-B8B8-46A5-9255-9FCA2CEFD620}" dt="2025-08-07T20:38:04.780" v="5812" actId="26606"/>
          <ac:spMkLst>
            <pc:docMk/>
            <pc:sldMk cId="1239656452" sldId="351"/>
            <ac:spMk id="41" creationId="{0ADDB668-2CA4-4D2B-9C34-3487CA330BA8}"/>
          </ac:spMkLst>
        </pc:spChg>
        <pc:spChg chg="add">
          <ac:chgData name="Hameed, Jibreel Q CIV USARMY DEVCOM AC (USA)" userId="dd27dcb6-3523-4859-a5d2-556df1dd55da" providerId="ADAL" clId="{96039351-B8B8-46A5-9255-9FCA2CEFD620}" dt="2025-08-07T20:38:04.780" v="5812" actId="26606"/>
          <ac:spMkLst>
            <pc:docMk/>
            <pc:sldMk cId="1239656452" sldId="351"/>
            <ac:spMk id="43" creationId="{D5FD337D-4D6B-4C8B-B6F5-121097E09881}"/>
          </ac:spMkLst>
        </pc:spChg>
        <pc:spChg chg="add del">
          <ac:chgData name="Hameed, Jibreel Q CIV USARMY DEVCOM AC (USA)" userId="dd27dcb6-3523-4859-a5d2-556df1dd55da" providerId="ADAL" clId="{96039351-B8B8-46A5-9255-9FCA2CEFD620}" dt="2025-08-07T20:36:35.249" v="5787" actId="26606"/>
          <ac:spMkLst>
            <pc:docMk/>
            <pc:sldMk cId="1239656452" sldId="351"/>
            <ac:spMk id="45" creationId="{B81933D1-5615-42C7-9C0B-4EB7105CCE2D}"/>
          </ac:spMkLst>
        </pc:spChg>
        <pc:spChg chg="add del">
          <ac:chgData name="Hameed, Jibreel Q CIV USARMY DEVCOM AC (USA)" userId="dd27dcb6-3523-4859-a5d2-556df1dd55da" providerId="ADAL" clId="{96039351-B8B8-46A5-9255-9FCA2CEFD620}" dt="2025-08-07T20:37:45.254" v="5811" actId="26606"/>
          <ac:spMkLst>
            <pc:docMk/>
            <pc:sldMk cId="1239656452" sldId="351"/>
            <ac:spMk id="46" creationId="{08C9B587-E65E-4B52-B37C-ABEBB6E87928}"/>
          </ac:spMkLst>
        </pc:spChg>
        <pc:spChg chg="add del">
          <ac:chgData name="Hameed, Jibreel Q CIV USARMY DEVCOM AC (USA)" userId="dd27dcb6-3523-4859-a5d2-556df1dd55da" providerId="ADAL" clId="{96039351-B8B8-46A5-9255-9FCA2CEFD620}" dt="2025-08-07T20:36:35.249" v="5787" actId="26606"/>
          <ac:spMkLst>
            <pc:docMk/>
            <pc:sldMk cId="1239656452" sldId="351"/>
            <ac:spMk id="49" creationId="{19C9EAEA-39D0-4B0E-A0EB-51E7B26740B1}"/>
          </ac:spMkLst>
        </pc:spChg>
        <pc:picChg chg="del">
          <ac:chgData name="Hameed, Jibreel Q CIV USARMY DEVCOM AC (USA)" userId="dd27dcb6-3523-4859-a5d2-556df1dd55da" providerId="ADAL" clId="{96039351-B8B8-46A5-9255-9FCA2CEFD620}" dt="2025-08-07T20:33:59.212" v="5760" actId="478"/>
          <ac:picMkLst>
            <pc:docMk/>
            <pc:sldMk cId="1239656452" sldId="351"/>
            <ac:picMk id="3" creationId="{2D5F183A-FE50-C98E-80B1-22A526585094}"/>
          </ac:picMkLst>
        </pc:picChg>
        <pc:picChg chg="add del mod ord">
          <ac:chgData name="Hameed, Jibreel Q CIV USARMY DEVCOM AC (USA)" userId="dd27dcb6-3523-4859-a5d2-556df1dd55da" providerId="ADAL" clId="{96039351-B8B8-46A5-9255-9FCA2CEFD620}" dt="2025-08-07T20:38:29.388" v="5820" actId="478"/>
          <ac:picMkLst>
            <pc:docMk/>
            <pc:sldMk cId="1239656452" sldId="351"/>
            <ac:picMk id="6" creationId="{226B4EEA-A578-2C08-F182-D7A17090EAC9}"/>
          </ac:picMkLst>
        </pc:picChg>
        <pc:picChg chg="add mod">
          <ac:chgData name="Hameed, Jibreel Q CIV USARMY DEVCOM AC (USA)" userId="dd27dcb6-3523-4859-a5d2-556df1dd55da" providerId="ADAL" clId="{96039351-B8B8-46A5-9255-9FCA2CEFD620}" dt="2025-08-07T20:38:55.889" v="5830" actId="1076"/>
          <ac:picMkLst>
            <pc:docMk/>
            <pc:sldMk cId="1239656452" sldId="351"/>
            <ac:picMk id="8" creationId="{7199CB61-429A-9E3E-23ED-4AAA751A7A80}"/>
          </ac:picMkLst>
        </pc:picChg>
        <pc:picChg chg="del">
          <ac:chgData name="Hameed, Jibreel Q CIV USARMY DEVCOM AC (USA)" userId="dd27dcb6-3523-4859-a5d2-556df1dd55da" providerId="ADAL" clId="{96039351-B8B8-46A5-9255-9FCA2CEFD620}" dt="2025-08-07T20:33:58.292" v="5759" actId="478"/>
          <ac:picMkLst>
            <pc:docMk/>
            <pc:sldMk cId="1239656452" sldId="351"/>
            <ac:picMk id="9" creationId="{7C3A8F08-0EF3-3733-98E3-C1CA73C8626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8/10/2025</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428401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7</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8</a:t>
            </a:fld>
            <a:endParaRPr lang="en-US"/>
          </a:p>
        </p:txBody>
      </p:sp>
    </p:spTree>
    <p:extLst>
      <p:ext uri="{BB962C8B-B14F-4D97-AF65-F5344CB8AC3E}">
        <p14:creationId xmlns:p14="http://schemas.microsoft.com/office/powerpoint/2010/main" val="2234493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C7340-2B05-EDEF-8B21-7AD3CE41C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6415B-9B74-7791-8F60-F131F92CB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522E5-58A8-A1C5-EEF7-9D9F04546F61}"/>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522C3B51-B7E0-8CD2-1027-78A590A38CC6}"/>
              </a:ext>
            </a:extLst>
          </p:cNvPr>
          <p:cNvSpPr>
            <a:spLocks noGrp="1"/>
          </p:cNvSpPr>
          <p:nvPr>
            <p:ph type="sldNum" sz="quarter" idx="5"/>
          </p:nvPr>
        </p:nvSpPr>
        <p:spPr/>
        <p:txBody>
          <a:bodyPr/>
          <a:lstStyle/>
          <a:p>
            <a:fld id="{EEBDA0E2-FEBD-4B65-8F16-724CF984F377}" type="slidenum">
              <a:rPr lang="en-US" smtClean="0"/>
              <a:t>13</a:t>
            </a:fld>
            <a:endParaRPr lang="en-US"/>
          </a:p>
        </p:txBody>
      </p:sp>
    </p:spTree>
    <p:extLst>
      <p:ext uri="{BB962C8B-B14F-4D97-AF65-F5344CB8AC3E}">
        <p14:creationId xmlns:p14="http://schemas.microsoft.com/office/powerpoint/2010/main" val="3082286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36</a:t>
            </a:fld>
            <a:endParaRPr lang="en-US"/>
          </a:p>
        </p:txBody>
      </p:sp>
    </p:spTree>
    <p:extLst>
      <p:ext uri="{BB962C8B-B14F-4D97-AF65-F5344CB8AC3E}">
        <p14:creationId xmlns:p14="http://schemas.microsoft.com/office/powerpoint/2010/main" val="1641707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37</a:t>
            </a:fld>
            <a:endParaRPr lang="en-US"/>
          </a:p>
        </p:txBody>
      </p:sp>
    </p:spTree>
    <p:extLst>
      <p:ext uri="{BB962C8B-B14F-4D97-AF65-F5344CB8AC3E}">
        <p14:creationId xmlns:p14="http://schemas.microsoft.com/office/powerpoint/2010/main" val="4240610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39</a:t>
            </a:fld>
            <a:endParaRPr lang="en-US"/>
          </a:p>
        </p:txBody>
      </p:sp>
    </p:spTree>
    <p:extLst>
      <p:ext uri="{BB962C8B-B14F-4D97-AF65-F5344CB8AC3E}">
        <p14:creationId xmlns:p14="http://schemas.microsoft.com/office/powerpoint/2010/main" val="2206733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45</a:t>
            </a:fld>
            <a:endParaRPr lang="en-US"/>
          </a:p>
        </p:txBody>
      </p:sp>
    </p:spTree>
    <p:extLst>
      <p:ext uri="{BB962C8B-B14F-4D97-AF65-F5344CB8AC3E}">
        <p14:creationId xmlns:p14="http://schemas.microsoft.com/office/powerpoint/2010/main" val="402524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8/10/2025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jqhameed@gmail.com?subject=UNDERSTANDING%20NJ%20REAL%20ESTATE%20MARKET%20WITH%20DATA%20SCIENCE" TargetMode="External"/><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linkedin.com/in/jibreel-hameed-05371540/" TargetMode="External"/><Relationship Id="rId5" Type="http://schemas.openxmlformats.org/officeDocument/2006/relationships/image" Target="../media/image2.png"/><Relationship Id="rId4" Type="http://schemas.openxmlformats.org/officeDocument/2006/relationships/hyperlink" Target="https://github.com/TheNJineer/GSMLS-Analysis" TargetMode="Externa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www.statology.org/what-is-a-good-rmse/" TargetMode="Externa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hyperlink" Target="https://www.statology.org/how-to-interpret-mape/"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icture containing building, outdoor, house, brick&#10;&#10;AI-generated content may be incorrect.">
            <a:extLst>
              <a:ext uri="{FF2B5EF4-FFF2-40B4-BE49-F238E27FC236}">
                <a16:creationId xmlns:a16="http://schemas.microsoft.com/office/drawing/2014/main" id="{D2A57B23-58F4-ED96-33FA-4282CDA32F52}"/>
              </a:ext>
            </a:extLst>
          </p:cNvPr>
          <p:cNvPicPr>
            <a:picLocks noChangeAspect="1"/>
          </p:cNvPicPr>
          <p:nvPr/>
        </p:nvPicPr>
        <p:blipFill>
          <a:blip r:embed="rId3"/>
          <a:srcRect l="3763" r="2120" b="-1"/>
          <a:stretch>
            <a:fillRect/>
          </a:stretch>
        </p:blipFill>
        <p:spPr>
          <a:xfrm>
            <a:off x="2522356" y="10"/>
            <a:ext cx="9669642" cy="6857990"/>
          </a:xfrm>
          <a:prstGeom prst="rect">
            <a:avLst/>
          </a:prstGeom>
        </p:spPr>
      </p:pic>
      <p:sp>
        <p:nvSpPr>
          <p:cNvPr id="15" name="Rectangle 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AEBDD5E7-4059-C40E-4FED-12D491AC3C44}"/>
              </a:ext>
            </a:extLst>
          </p:cNvPr>
          <p:cNvSpPr>
            <a:spLocks noGrp="1"/>
          </p:cNvSpPr>
          <p:nvPr>
            <p:ph type="title"/>
          </p:nvPr>
        </p:nvSpPr>
        <p:spPr>
          <a:xfrm>
            <a:off x="609737" y="1332355"/>
            <a:ext cx="3822189" cy="1899912"/>
          </a:xfrm>
        </p:spPr>
        <p:txBody>
          <a:bodyPr>
            <a:normAutofit fontScale="90000"/>
          </a:bodyPr>
          <a:lstStyle/>
          <a:p>
            <a:r>
              <a:rPr lang="en-US" sz="4000" dirty="0"/>
              <a:t>Understanding the NJ Real Estate Market with Data Science</a:t>
            </a:r>
          </a:p>
        </p:txBody>
      </p:sp>
      <p:sp>
        <p:nvSpPr>
          <p:cNvPr id="10" name="Content Placeholder 9">
            <a:extLst>
              <a:ext uri="{FF2B5EF4-FFF2-40B4-BE49-F238E27FC236}">
                <a16:creationId xmlns:a16="http://schemas.microsoft.com/office/drawing/2014/main" id="{6567CA2B-704E-8195-17B5-B04D4962E632}"/>
              </a:ext>
            </a:extLst>
          </p:cNvPr>
          <p:cNvSpPr>
            <a:spLocks noGrp="1"/>
          </p:cNvSpPr>
          <p:nvPr>
            <p:ph idx="1"/>
          </p:nvPr>
        </p:nvSpPr>
        <p:spPr>
          <a:xfrm>
            <a:off x="609737" y="3625734"/>
            <a:ext cx="2944739" cy="808885"/>
          </a:xfrm>
        </p:spPr>
        <p:txBody>
          <a:bodyPr>
            <a:normAutofit/>
          </a:bodyPr>
          <a:lstStyle/>
          <a:p>
            <a:pPr marL="0" indent="0">
              <a:buNone/>
            </a:pPr>
            <a:r>
              <a:rPr lang="en-US" sz="2000" dirty="0"/>
              <a:t>Jibreel Hameed</a:t>
            </a:r>
          </a:p>
          <a:p>
            <a:pPr marL="0" indent="0">
              <a:buNone/>
            </a:pPr>
            <a:r>
              <a:rPr lang="en-US" sz="2000" dirty="0"/>
              <a:t>8/5/2025</a:t>
            </a:r>
          </a:p>
        </p:txBody>
      </p:sp>
      <p:pic>
        <p:nvPicPr>
          <p:cNvPr id="7" name="Picture 6">
            <a:hlinkClick r:id="rId4"/>
            <a:extLst>
              <a:ext uri="{FF2B5EF4-FFF2-40B4-BE49-F238E27FC236}">
                <a16:creationId xmlns:a16="http://schemas.microsoft.com/office/drawing/2014/main" id="{F8871786-44C6-4549-F101-70BA1794C2DA}"/>
              </a:ext>
            </a:extLst>
          </p:cNvPr>
          <p:cNvPicPr>
            <a:picLocks noChangeAspect="1"/>
          </p:cNvPicPr>
          <p:nvPr/>
        </p:nvPicPr>
        <p:blipFill>
          <a:blip r:embed="rId5"/>
          <a:stretch>
            <a:fillRect/>
          </a:stretch>
        </p:blipFill>
        <p:spPr>
          <a:xfrm>
            <a:off x="525126" y="6014720"/>
            <a:ext cx="634521" cy="634521"/>
          </a:xfrm>
          <a:prstGeom prst="rect">
            <a:avLst/>
          </a:prstGeom>
        </p:spPr>
      </p:pic>
      <p:pic>
        <p:nvPicPr>
          <p:cNvPr id="8" name="Picture 7">
            <a:hlinkClick r:id="rId6"/>
            <a:extLst>
              <a:ext uri="{FF2B5EF4-FFF2-40B4-BE49-F238E27FC236}">
                <a16:creationId xmlns:a16="http://schemas.microsoft.com/office/drawing/2014/main" id="{7CEAA4D4-B243-C80A-B3AA-6BA0C9CC8810}"/>
              </a:ext>
            </a:extLst>
          </p:cNvPr>
          <p:cNvPicPr>
            <a:picLocks noChangeAspect="1"/>
          </p:cNvPicPr>
          <p:nvPr/>
        </p:nvPicPr>
        <p:blipFill>
          <a:blip r:embed="rId7"/>
          <a:stretch>
            <a:fillRect/>
          </a:stretch>
        </p:blipFill>
        <p:spPr>
          <a:xfrm>
            <a:off x="1291091" y="6068851"/>
            <a:ext cx="549910" cy="549910"/>
          </a:xfrm>
          <a:prstGeom prst="rect">
            <a:avLst/>
          </a:prstGeom>
        </p:spPr>
      </p:pic>
      <p:pic>
        <p:nvPicPr>
          <p:cNvPr id="9" name="Picture 8">
            <a:hlinkClick r:id="rId8"/>
            <a:extLst>
              <a:ext uri="{FF2B5EF4-FFF2-40B4-BE49-F238E27FC236}">
                <a16:creationId xmlns:a16="http://schemas.microsoft.com/office/drawing/2014/main" id="{8760FA22-2C9A-BA42-3DCF-07FF4EB309F9}"/>
              </a:ext>
            </a:extLst>
          </p:cNvPr>
          <p:cNvPicPr>
            <a:picLocks noChangeAspect="1"/>
          </p:cNvPicPr>
          <p:nvPr/>
        </p:nvPicPr>
        <p:blipFill>
          <a:blip r:embed="rId9"/>
          <a:stretch>
            <a:fillRect/>
          </a:stretch>
        </p:blipFill>
        <p:spPr>
          <a:xfrm>
            <a:off x="1972445" y="5936771"/>
            <a:ext cx="797923" cy="797923"/>
          </a:xfrm>
          <a:prstGeom prst="rect">
            <a:avLst/>
          </a:prstGeom>
        </p:spPr>
      </p:pic>
    </p:spTree>
    <p:extLst>
      <p:ext uri="{BB962C8B-B14F-4D97-AF65-F5344CB8AC3E}">
        <p14:creationId xmlns:p14="http://schemas.microsoft.com/office/powerpoint/2010/main" val="2829881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7" y="2521403"/>
            <a:ext cx="5660840" cy="1898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endParaRPr lang="en-US" sz="2200" dirty="0">
              <a:solidFill>
                <a:schemeClr val="accent3">
                  <a:lumMod val="25000"/>
                </a:schemeClr>
              </a:solidFill>
              <a:latin typeface="Abadi" panose="020B0604020104020204" pitchFamily="34" charset="0"/>
            </a:endParaRPr>
          </a:p>
        </p:txBody>
      </p:sp>
      <p:sp>
        <p:nvSpPr>
          <p:cNvPr id="2" name="TextBox 1">
            <a:extLst>
              <a:ext uri="{FF2B5EF4-FFF2-40B4-BE49-F238E27FC236}">
                <a16:creationId xmlns:a16="http://schemas.microsoft.com/office/drawing/2014/main" id="{D0E4D0E9-7F1B-B158-5C67-D8C44CFF2679}"/>
              </a:ext>
            </a:extLst>
          </p:cNvPr>
          <p:cNvSpPr txBox="1"/>
          <p:nvPr/>
        </p:nvSpPr>
        <p:spPr>
          <a:xfrm>
            <a:off x="828068" y="1386672"/>
            <a:ext cx="10629904" cy="5047536"/>
          </a:xfrm>
          <a:prstGeom prst="rect">
            <a:avLst/>
          </a:prstGeom>
          <a:noFill/>
        </p:spPr>
        <p:txBody>
          <a:bodyPr wrap="square" rtlCol="0">
            <a:spAutoFit/>
          </a:bodyPr>
          <a:lstStyle/>
          <a:p>
            <a:r>
              <a:rPr lang="en-US" sz="1600" b="1" dirty="0"/>
              <a:t>Background </a:t>
            </a:r>
          </a:p>
          <a:p>
            <a:endParaRPr lang="en-US" sz="1600" dirty="0"/>
          </a:p>
          <a:p>
            <a:r>
              <a:rPr lang="en-US" sz="1600" dirty="0"/>
              <a:t>The current system (or lack thereof) for real estate agents to analyze their local and distance markets is inefficient and time consuming. To properly represent clients and meet their needs, an agent needs to spend many hours throughout the week tracking recent sales, inventory, home prices and conducting comparable sales analysis. With this information, an agent can thoroughly understand market dynamics, when, where and how a buyer should purchase a property or to sell a home. However, markets change on a weekly and monthly basis. This can be overwhelming for new and even established agents as New Jersey has 4-5 different private MLS services which organize and display their data with different methods. This inefficiency can lead to increased frustration and lack of understanding with one's job, increased inability to keep up with fast paced markets, decreased client satisfaction and loss of revenue (salary).</a:t>
            </a:r>
          </a:p>
          <a:p>
            <a:endParaRPr lang="en-US" sz="1600" dirty="0"/>
          </a:p>
          <a:p>
            <a:r>
              <a:rPr lang="en-US" sz="1600" dirty="0"/>
              <a:t>The goal of this project is intended to achieve multiple objectives:</a:t>
            </a:r>
          </a:p>
          <a:p>
            <a:pPr marL="285750" indent="-285750">
              <a:buFont typeface="Arial" panose="020B0604020202020204" pitchFamily="34" charset="0"/>
              <a:buChar char="•"/>
            </a:pPr>
            <a:r>
              <a:rPr lang="en-US" sz="1600" dirty="0"/>
              <a:t>Create a system which automatically collects, cleans and stores real estate data on a weekly basis for each accessible MLS</a:t>
            </a:r>
          </a:p>
          <a:p>
            <a:pPr marL="285750" indent="-285750">
              <a:buFont typeface="Arial" panose="020B0604020202020204" pitchFamily="34" charset="0"/>
              <a:buChar char="•"/>
            </a:pPr>
            <a:r>
              <a:rPr lang="en-US" sz="1600" dirty="0"/>
              <a:t>Understand the relationship between a property’s sales price and it’s physical and locational characteristics</a:t>
            </a:r>
          </a:p>
          <a:p>
            <a:pPr marL="285750" indent="-285750">
              <a:buFont typeface="Arial" panose="020B0604020202020204" pitchFamily="34" charset="0"/>
              <a:buChar char="•"/>
            </a:pPr>
            <a:r>
              <a:rPr lang="en-US" sz="1600" dirty="0"/>
              <a:t>Determine if a property will be sold based on sales price and physical and locational characteristics</a:t>
            </a:r>
          </a:p>
          <a:p>
            <a:pPr marL="285750" indent="-285750">
              <a:buFont typeface="Arial" panose="020B0604020202020204" pitchFamily="34" charset="0"/>
              <a:buChar char="•"/>
            </a:pPr>
            <a:r>
              <a:rPr lang="en-US" sz="1600" dirty="0"/>
              <a:t>Create a dashboard to display market statistics as well as provide the ability to conduct data/market analysis on a state and municipal level</a:t>
            </a:r>
          </a:p>
          <a:p>
            <a:pPr marL="285750" indent="-285750">
              <a:buFont typeface="Arial" panose="020B0604020202020204" pitchFamily="34" charset="0"/>
              <a:buChar char="•"/>
            </a:pPr>
            <a:r>
              <a:rPr lang="en-US" sz="1600" dirty="0"/>
              <a:t>Obtain a deeper knowledge of the real estate market to not only be more informed, but also be a better asset to buyer and seller clients alike</a:t>
            </a:r>
          </a:p>
          <a:p>
            <a:endParaRPr lang="en-US" dirty="0"/>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851327" y="1480116"/>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
        <p:nvSpPr>
          <p:cNvPr id="2" name="TextBox 1">
            <a:extLst>
              <a:ext uri="{FF2B5EF4-FFF2-40B4-BE49-F238E27FC236}">
                <a16:creationId xmlns:a16="http://schemas.microsoft.com/office/drawing/2014/main" id="{042C684E-BF19-2619-2547-1D617917F110}"/>
              </a:ext>
            </a:extLst>
          </p:cNvPr>
          <p:cNvSpPr txBox="1"/>
          <p:nvPr/>
        </p:nvSpPr>
        <p:spPr>
          <a:xfrm>
            <a:off x="851327" y="1361782"/>
            <a:ext cx="10434284" cy="5632311"/>
          </a:xfrm>
          <a:prstGeom prst="rect">
            <a:avLst/>
          </a:prstGeom>
          <a:noFill/>
        </p:spPr>
        <p:txBody>
          <a:bodyPr wrap="square" rtlCol="0">
            <a:spAutoFit/>
          </a:bodyPr>
          <a:lstStyle/>
          <a:p>
            <a:pPr>
              <a:buFont typeface="+mj-lt"/>
              <a:buAutoNum type="arabicPeriod"/>
            </a:pPr>
            <a:r>
              <a:rPr lang="en-US" b="1" dirty="0"/>
              <a:t>Data Collection and Preparation:</a:t>
            </a:r>
            <a:r>
              <a:rPr lang="en-US" dirty="0"/>
              <a:t> The project began with the collection of relevant datasets from publicly available sources as well as paid data sources. Data cleaning and preprocessing were performed to handle missing values, normalize data, and ensure data quality for analysis. Data transformations and feature engineering were also conducted to optimize the dataset for machine learning models.</a:t>
            </a:r>
          </a:p>
          <a:p>
            <a:pPr>
              <a:buFont typeface="+mj-lt"/>
              <a:buAutoNum type="arabicPeriod"/>
            </a:pPr>
            <a:endParaRPr lang="en-US" dirty="0"/>
          </a:p>
          <a:p>
            <a:pPr>
              <a:buFont typeface="+mj-lt"/>
              <a:buAutoNum type="arabicPeriod"/>
            </a:pPr>
            <a:r>
              <a:rPr lang="en-US" b="1" dirty="0"/>
              <a:t>Exploratory Data Analysis (EDA):</a:t>
            </a:r>
            <a:r>
              <a:rPr lang="en-US" dirty="0"/>
              <a:t> A thorough exploratory analysis was performed using SQL, data visualization techniques and statistical methods to identify patterns, relationships, and outliers within the data. This phase helped inform the selection of appropriate modeling techniques and variables for the subsequent predictive modeling phase.</a:t>
            </a:r>
          </a:p>
          <a:p>
            <a:pPr>
              <a:buFont typeface="+mj-lt"/>
              <a:buAutoNum type="arabicPeriod"/>
            </a:pPr>
            <a:endParaRPr lang="en-US" dirty="0"/>
          </a:p>
          <a:p>
            <a:pPr>
              <a:buFont typeface="+mj-lt"/>
              <a:buAutoNum type="arabicPeriod"/>
            </a:pPr>
            <a:r>
              <a:rPr lang="en-US" b="1" dirty="0"/>
              <a:t>Modeling and Evaluation:</a:t>
            </a:r>
            <a:r>
              <a:rPr lang="en-US" dirty="0"/>
              <a:t> Regression and classification techniques were applied to the data. The models were evaluated using cross-validation, and various performance metrics (such as accuracy, precision, recall, and F1-score) were used to assess their effectiveness. Hyperparameter tuning was also carried out to optimize model performance.</a:t>
            </a:r>
          </a:p>
          <a:p>
            <a:pPr>
              <a:buFont typeface="+mj-lt"/>
              <a:buAutoNum type="arabicPeriod"/>
            </a:pPr>
            <a:endParaRPr lang="en-US" dirty="0"/>
          </a:p>
          <a:p>
            <a:pPr>
              <a:buFont typeface="+mj-lt"/>
              <a:buAutoNum type="arabicPeriod"/>
            </a:pPr>
            <a:r>
              <a:rPr lang="en-US" b="1" dirty="0"/>
              <a:t>Result Interpretation and Recommendations:</a:t>
            </a:r>
            <a:r>
              <a:rPr lang="en-US" dirty="0"/>
              <a:t> After developing and evaluating the models, the results were interpreted to draw conclusions about the data and the problem at hand. The analysis provided actionable insights that addressed the project's main objective. Key recommendations were derived from the findings, which were communicated effectively to stakeholders.</a:t>
            </a:r>
          </a:p>
          <a:p>
            <a:endParaRPr lang="en-US" dirty="0"/>
          </a:p>
        </p:txBody>
      </p:sp>
    </p:spTree>
    <p:extLst>
      <p:ext uri="{BB962C8B-B14F-4D97-AF65-F5344CB8AC3E}">
        <p14:creationId xmlns:p14="http://schemas.microsoft.com/office/powerpoint/2010/main" val="1980221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ADCB01D-CA14-2CA7-A434-DE36FAB23F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05DC4D-D4F0-BAF0-C314-E7C51D072212}"/>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5</a:t>
            </a:fld>
            <a:endParaRPr lang="en-US" dirty="0"/>
          </a:p>
        </p:txBody>
      </p:sp>
      <p:sp>
        <p:nvSpPr>
          <p:cNvPr id="10" name="Content Placeholder 2">
            <a:extLst>
              <a:ext uri="{FF2B5EF4-FFF2-40B4-BE49-F238E27FC236}">
                <a16:creationId xmlns:a16="http://schemas.microsoft.com/office/drawing/2014/main" id="{8871EB3C-0DF4-FBA4-63E1-2FF52CDEACB1}"/>
              </a:ext>
            </a:extLst>
          </p:cNvPr>
          <p:cNvSpPr txBox="1">
            <a:spLocks/>
          </p:cNvSpPr>
          <p:nvPr/>
        </p:nvSpPr>
        <p:spPr>
          <a:xfrm>
            <a:off x="851327" y="1480116"/>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24B2805E-72C2-6E9C-CBD8-F7C8BC5E436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
        <p:nvSpPr>
          <p:cNvPr id="2" name="TextBox 1">
            <a:extLst>
              <a:ext uri="{FF2B5EF4-FFF2-40B4-BE49-F238E27FC236}">
                <a16:creationId xmlns:a16="http://schemas.microsoft.com/office/drawing/2014/main" id="{CCAAAAF3-D5F4-E96C-34AB-0F53FC7C6DFB}"/>
              </a:ext>
            </a:extLst>
          </p:cNvPr>
          <p:cNvSpPr txBox="1"/>
          <p:nvPr/>
        </p:nvSpPr>
        <p:spPr>
          <a:xfrm>
            <a:off x="851327" y="1480116"/>
            <a:ext cx="10434284" cy="3693319"/>
          </a:xfrm>
          <a:prstGeom prst="rect">
            <a:avLst/>
          </a:prstGeom>
          <a:noFill/>
        </p:spPr>
        <p:txBody>
          <a:bodyPr wrap="square" rtlCol="0">
            <a:spAutoFit/>
          </a:bodyPr>
          <a:lstStyle/>
          <a:p>
            <a:r>
              <a:rPr lang="en-US" b="1" dirty="0"/>
              <a:t>Summary of Results:</a:t>
            </a:r>
            <a:endParaRPr lang="en-US" dirty="0"/>
          </a:p>
          <a:p>
            <a:r>
              <a:rPr lang="en-US" dirty="0"/>
              <a:t>The analysis provided valuable insights into the problem being studied. The key findings include:</a:t>
            </a:r>
          </a:p>
          <a:p>
            <a:endParaRPr lang="en-US" dirty="0"/>
          </a:p>
          <a:p>
            <a:pPr>
              <a:buFont typeface="Arial" panose="020B0604020202020204" pitchFamily="34" charset="0"/>
              <a:buChar char="•"/>
            </a:pPr>
            <a:r>
              <a:rPr lang="en-US" b="1" dirty="0"/>
              <a:t>Data Insights:</a:t>
            </a:r>
            <a:r>
              <a:rPr lang="en-US" dirty="0"/>
              <a:t> The exploratory data analysis revealed significant trends and correlations between various features in the dataset, highlighting factors that most influenced the outcomes.</a:t>
            </a:r>
          </a:p>
          <a:p>
            <a:pPr>
              <a:buFont typeface="Arial" panose="020B0604020202020204" pitchFamily="34" charset="0"/>
              <a:buChar char="•"/>
            </a:pPr>
            <a:endParaRPr lang="en-US" dirty="0"/>
          </a:p>
          <a:p>
            <a:pPr>
              <a:buFont typeface="Arial" panose="020B0604020202020204" pitchFamily="34" charset="0"/>
              <a:buChar char="•"/>
            </a:pPr>
            <a:r>
              <a:rPr lang="en-US" b="1" dirty="0"/>
              <a:t>Model Performance:</a:t>
            </a:r>
            <a:r>
              <a:rPr lang="en-US" dirty="0"/>
              <a:t> The predictive models demonstrated high accuracy and generalization, with the best regression model achieving and R2 Score of 96.8% and the classification model achieving 84% accuracy.</a:t>
            </a:r>
          </a:p>
          <a:p>
            <a:pPr>
              <a:buFont typeface="Arial" panose="020B0604020202020204" pitchFamily="34" charset="0"/>
              <a:buChar char="•"/>
            </a:pPr>
            <a:endParaRPr lang="en-US" dirty="0"/>
          </a:p>
          <a:p>
            <a:pPr>
              <a:buFont typeface="Arial" panose="020B0604020202020204" pitchFamily="34" charset="0"/>
              <a:buChar char="•"/>
            </a:pPr>
            <a:r>
              <a:rPr lang="en-US" b="1" dirty="0"/>
              <a:t>Actionable Insights:</a:t>
            </a:r>
            <a:r>
              <a:rPr lang="en-US" dirty="0"/>
              <a:t> Based on the analysis, several actionable insights were identified, including the continuation of acquiring more data and conducting more feature engineering. These findings can be used to inform decision-making or guide future research in the domain.</a:t>
            </a:r>
          </a:p>
          <a:p>
            <a:endParaRPr lang="en-US" dirty="0"/>
          </a:p>
        </p:txBody>
      </p:sp>
    </p:spTree>
    <p:extLst>
      <p:ext uri="{BB962C8B-B14F-4D97-AF65-F5344CB8AC3E}">
        <p14:creationId xmlns:p14="http://schemas.microsoft.com/office/powerpoint/2010/main" val="1523024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grass, road, way&#10;&#10;AI-generated content may be incorrect.">
            <a:extLst>
              <a:ext uri="{FF2B5EF4-FFF2-40B4-BE49-F238E27FC236}">
                <a16:creationId xmlns:a16="http://schemas.microsoft.com/office/drawing/2014/main" id="{7A60649B-3756-2385-BDA6-5FA3870718DA}"/>
              </a:ext>
            </a:extLst>
          </p:cNvPr>
          <p:cNvPicPr>
            <a:picLocks noChangeAspect="1"/>
          </p:cNvPicPr>
          <p:nvPr/>
        </p:nvPicPr>
        <p:blipFill>
          <a:blip r:embed="rId2"/>
          <a:srcRect t="3192" r="35364" b="5899"/>
          <a:stretch>
            <a:fillRect/>
          </a:stretch>
        </p:blipFill>
        <p:spPr>
          <a:xfrm>
            <a:off x="3523488" y="10"/>
            <a:ext cx="8668512" cy="6857990"/>
          </a:xfrm>
          <a:prstGeom prst="rect">
            <a:avLst/>
          </a:prstGeom>
        </p:spPr>
      </p:pic>
      <p:sp>
        <p:nvSpPr>
          <p:cNvPr id="23" name="Rectangle 2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a:solidFill>
                  <a:schemeClr val="bg1"/>
                </a:solidFill>
                <a:latin typeface="+mj-lt"/>
                <a:ea typeface="+mj-ea"/>
                <a:cs typeface="+mj-cs"/>
              </a:rPr>
              <a:t>Section 1:</a:t>
            </a:r>
          </a:p>
          <a:p>
            <a:pPr>
              <a:lnSpc>
                <a:spcPct val="90000"/>
              </a:lnSpc>
              <a:spcBef>
                <a:spcPct val="0"/>
              </a:spcBef>
              <a:spcAft>
                <a:spcPts val="600"/>
              </a:spcAft>
            </a:pPr>
            <a:r>
              <a:rPr lang="en-US" sz="4800">
                <a:solidFill>
                  <a:schemeClr val="bg1"/>
                </a:solidFill>
                <a:latin typeface="+mj-lt"/>
                <a:ea typeface="+mj-ea"/>
                <a:cs typeface="+mj-cs"/>
              </a:rPr>
              <a:t>Methodology</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5075537C-CA84-1446-933C-8E9D027F9201}" type="slidenum">
              <a:rPr lang="en-US" sz="1200">
                <a:solidFill>
                  <a:schemeClr val="bg1"/>
                </a:solidFill>
                <a:latin typeface="Calibri" panose="020F0502020204030204"/>
              </a:rPr>
              <a:pPr>
                <a:spcAft>
                  <a:spcPts val="600"/>
                </a:spcAft>
                <a:defRPr/>
              </a:pPr>
              <a:t>6</a:t>
            </a:fld>
            <a:endParaRPr lang="en-US" sz="1200">
              <a:solidFill>
                <a:schemeClr val="bg1"/>
              </a:solidFill>
              <a:latin typeface="Calibri" panose="020F0502020204030204"/>
            </a:endParaRPr>
          </a:p>
        </p:txBody>
      </p:sp>
    </p:spTree>
    <p:extLst>
      <p:ext uri="{BB962C8B-B14F-4D97-AF65-F5344CB8AC3E}">
        <p14:creationId xmlns:p14="http://schemas.microsoft.com/office/powerpoint/2010/main" val="309319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7</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420035"/>
            <a:ext cx="9712931" cy="3870421"/>
          </a:xfrm>
          <a:prstGeom prst="rect">
            <a:avLst/>
          </a:prstGeom>
        </p:spPr>
        <p:txBody>
          <a:bodyPr lIns="91440" tIns="45720" rIns="91440" bIns="45720" anchor="t">
            <a:normAutofit fontScale="4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6000" dirty="0">
                <a:solidFill>
                  <a:schemeClr val="accent3">
                    <a:lumMod val="25000"/>
                  </a:schemeClr>
                </a:solidFill>
                <a:latin typeface="Abadi"/>
              </a:rPr>
              <a:t>Data collection methodology</a:t>
            </a:r>
          </a:p>
          <a:p>
            <a:pPr>
              <a:lnSpc>
                <a:spcPct val="120000"/>
              </a:lnSpc>
              <a:spcBef>
                <a:spcPts val="1400"/>
              </a:spcBef>
            </a:pPr>
            <a:r>
              <a:rPr lang="en-US" sz="6000" dirty="0">
                <a:solidFill>
                  <a:schemeClr val="accent3">
                    <a:lumMod val="25000"/>
                  </a:schemeClr>
                </a:solidFill>
                <a:latin typeface="Abadi"/>
              </a:rPr>
              <a:t>Perform data wrangling</a:t>
            </a:r>
          </a:p>
          <a:p>
            <a:pPr>
              <a:lnSpc>
                <a:spcPct val="120000"/>
              </a:lnSpc>
              <a:spcBef>
                <a:spcPts val="1400"/>
              </a:spcBef>
            </a:pPr>
            <a:r>
              <a:rPr lang="en-US" sz="60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6000" dirty="0">
                <a:solidFill>
                  <a:schemeClr val="accent3">
                    <a:lumMod val="25000"/>
                  </a:schemeClr>
                </a:solidFill>
                <a:latin typeface="Abadi"/>
              </a:rPr>
              <a:t>Perform interactive visual analytics using Folium</a:t>
            </a:r>
          </a:p>
          <a:p>
            <a:pPr>
              <a:lnSpc>
                <a:spcPct val="120000"/>
              </a:lnSpc>
              <a:spcBef>
                <a:spcPts val="1400"/>
              </a:spcBef>
            </a:pPr>
            <a:r>
              <a:rPr lang="en-US" sz="6000" dirty="0">
                <a:solidFill>
                  <a:schemeClr val="accent3">
                    <a:lumMod val="25000"/>
                  </a:schemeClr>
                </a:solidFill>
                <a:latin typeface="Abadi"/>
              </a:rPr>
              <a:t>Perform predictive analysis using classification and regression models</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solidFill>
                  <a:srgbClr val="0B49CB"/>
                </a:solidFill>
                <a:latin typeface="Abadi"/>
              </a:rPr>
              <a:t>Data Collection</a:t>
            </a:r>
            <a:endParaRPr lang="en-US" dirty="0">
              <a:solidFill>
                <a:srgbClr val="0B49CB"/>
              </a:solidFill>
            </a:endParaRPr>
          </a:p>
        </p:txBody>
      </p:sp>
      <p:pic>
        <p:nvPicPr>
          <p:cNvPr id="7" name="Picture 6" descr="Timeline&#10;&#10;AI-generated content may be incorrect.">
            <a:extLst>
              <a:ext uri="{FF2B5EF4-FFF2-40B4-BE49-F238E27FC236}">
                <a16:creationId xmlns:a16="http://schemas.microsoft.com/office/drawing/2014/main" id="{5B8E361B-7CEE-DEBE-25BA-BF2B57BD5C16}"/>
              </a:ext>
            </a:extLst>
          </p:cNvPr>
          <p:cNvPicPr>
            <a:picLocks noChangeAspect="1"/>
          </p:cNvPicPr>
          <p:nvPr/>
        </p:nvPicPr>
        <p:blipFill>
          <a:blip r:embed="rId4"/>
          <a:srcRect l="17590" t="16521" r="18750" b="24262"/>
          <a:stretch>
            <a:fillRect/>
          </a:stretch>
        </p:blipFill>
        <p:spPr>
          <a:xfrm>
            <a:off x="315686" y="1763485"/>
            <a:ext cx="7761514" cy="3331030"/>
          </a:xfrm>
          <a:prstGeom prst="rect">
            <a:avLst/>
          </a:prstGeom>
        </p:spPr>
      </p:pic>
      <p:sp>
        <p:nvSpPr>
          <p:cNvPr id="8" name="TextBox 7">
            <a:extLst>
              <a:ext uri="{FF2B5EF4-FFF2-40B4-BE49-F238E27FC236}">
                <a16:creationId xmlns:a16="http://schemas.microsoft.com/office/drawing/2014/main" id="{40390D54-2B1C-4203-2F19-8F761E68A0CC}"/>
              </a:ext>
            </a:extLst>
          </p:cNvPr>
          <p:cNvSpPr txBox="1"/>
          <p:nvPr/>
        </p:nvSpPr>
        <p:spPr>
          <a:xfrm>
            <a:off x="8218714" y="1415141"/>
            <a:ext cx="3624943" cy="4539704"/>
          </a:xfrm>
          <a:prstGeom prst="rect">
            <a:avLst/>
          </a:prstGeom>
          <a:noFill/>
        </p:spPr>
        <p:txBody>
          <a:bodyPr wrap="square" rtlCol="0">
            <a:spAutoFit/>
          </a:bodyPr>
          <a:lstStyle/>
          <a:p>
            <a:r>
              <a:rPr lang="en-US" dirty="0"/>
              <a:t>Pipeline Process:</a:t>
            </a:r>
          </a:p>
          <a:p>
            <a:endParaRPr lang="en-US" sz="1600" dirty="0"/>
          </a:p>
          <a:p>
            <a:pPr marL="342900" indent="-342900">
              <a:buFont typeface="+mj-lt"/>
              <a:buAutoNum type="arabicPeriod"/>
            </a:pPr>
            <a:r>
              <a:rPr lang="en-US" sz="1500" dirty="0"/>
              <a:t>Schedule data scrapes on a weekly basis</a:t>
            </a:r>
          </a:p>
          <a:p>
            <a:pPr marL="342900" indent="-342900">
              <a:buFont typeface="+mj-lt"/>
              <a:buAutoNum type="arabicPeriod"/>
            </a:pPr>
            <a:r>
              <a:rPr lang="en-US" sz="1500" dirty="0"/>
              <a:t>Use Python and Selenium to automate a script to send data requests from the GSMLS server and produce to Apache Kafka</a:t>
            </a:r>
          </a:p>
          <a:p>
            <a:pPr marL="342900" indent="-342900">
              <a:buFont typeface="+mj-lt"/>
              <a:buAutoNum type="arabicPeriod"/>
            </a:pPr>
            <a:r>
              <a:rPr lang="en-US" sz="1500" dirty="0"/>
              <a:t>Consume structured data from Apache Kafka to clean and transform</a:t>
            </a:r>
          </a:p>
          <a:p>
            <a:pPr marL="342900" indent="-342900">
              <a:buFont typeface="+mj-lt"/>
              <a:buAutoNum type="arabicPeriod"/>
            </a:pPr>
            <a:r>
              <a:rPr lang="en-US" sz="1500" dirty="0"/>
              <a:t>Consume image weblinks and residential property characteristics in MongoDB for later consumption</a:t>
            </a:r>
          </a:p>
          <a:p>
            <a:pPr marL="342900" indent="-342900">
              <a:buFont typeface="+mj-lt"/>
              <a:buAutoNum type="arabicPeriod"/>
            </a:pPr>
            <a:r>
              <a:rPr lang="en-US" sz="1500" dirty="0"/>
              <a:t>Store structured data in PostgreSQL</a:t>
            </a:r>
          </a:p>
          <a:p>
            <a:pPr marL="342900" indent="-342900">
              <a:buFont typeface="+mj-lt"/>
              <a:buAutoNum type="arabicPeriod"/>
            </a:pPr>
            <a:r>
              <a:rPr lang="en-US" sz="1500" dirty="0"/>
              <a:t>Use Jupyter Notebook for exploratory data analysis and further cleaning for Machine Learning</a:t>
            </a:r>
          </a:p>
          <a:p>
            <a:pPr marL="800100" lvl="1" indent="-342900">
              <a:buFont typeface="Arial" panose="020B0604020202020204" pitchFamily="34" charset="0"/>
              <a:buChar char="•"/>
            </a:pPr>
            <a:r>
              <a:rPr lang="en-US" sz="1500" dirty="0"/>
              <a:t>Apache Spark used for more efficient data merging/clean in specific processes</a:t>
            </a:r>
          </a:p>
        </p:txBody>
      </p:sp>
    </p:spTree>
    <p:extLst>
      <p:ext uri="{BB962C8B-B14F-4D97-AF65-F5344CB8AC3E}">
        <p14:creationId xmlns:p14="http://schemas.microsoft.com/office/powerpoint/2010/main" val="3288665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6E21708-6F39-B833-C172-4F0AF648B778}"/>
              </a:ext>
            </a:extLst>
          </p:cNvPr>
          <p:cNvPicPr>
            <a:picLocks noChangeAspect="1"/>
          </p:cNvPicPr>
          <p:nvPr/>
        </p:nvPicPr>
        <p:blipFill>
          <a:blip r:embed="rId2"/>
          <a:srcRect r="-2" b="7457"/>
          <a:stretch>
            <a:fillRect/>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9" name="Picture 8">
            <a:extLst>
              <a:ext uri="{FF2B5EF4-FFF2-40B4-BE49-F238E27FC236}">
                <a16:creationId xmlns:a16="http://schemas.microsoft.com/office/drawing/2014/main" id="{8C821C26-8E3A-81FD-29AC-01BB79AB8095}"/>
              </a:ext>
            </a:extLst>
          </p:cNvPr>
          <p:cNvPicPr>
            <a:picLocks noChangeAspect="1"/>
          </p:cNvPicPr>
          <p:nvPr/>
        </p:nvPicPr>
        <p:blipFill>
          <a:blip r:embed="rId3"/>
          <a:srcRect r="-2" b="7919"/>
          <a:stretch>
            <a:fillRect/>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8" name="Freeform: Shape 17">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448056" y="859536"/>
            <a:ext cx="4832802" cy="1243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400" kern="1200">
                <a:solidFill>
                  <a:schemeClr val="tx1"/>
                </a:solidFill>
                <a:latin typeface="+mj-lt"/>
                <a:ea typeface="+mj-ea"/>
                <a:cs typeface="+mj-cs"/>
              </a:rPr>
              <a:t>Data Collection – GSMLS</a:t>
            </a:r>
          </a:p>
        </p:txBody>
      </p:sp>
      <p:sp>
        <p:nvSpPr>
          <p:cNvPr id="22" name="Rectangle 21">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448056" y="2512611"/>
            <a:ext cx="4832803" cy="3664351"/>
          </a:xfrm>
          <a:prstGeom prst="rect">
            <a:avLst/>
          </a:prstGeom>
        </p:spPr>
        <p:txBody>
          <a:bodyPr vert="horz" lIns="91440" tIns="45720" rIns="91440" bIns="45720" rtlCol="0">
            <a:normAutofit/>
          </a:bodyPr>
          <a:lstStyle/>
          <a:p>
            <a:pPr>
              <a:spcBef>
                <a:spcPts val="1400"/>
              </a:spcBef>
            </a:pPr>
            <a:r>
              <a:rPr lang="en-US" sz="2000" dirty="0"/>
              <a:t>Created an automated script using Selenium to receive data in the form of xls/xlsx files</a:t>
            </a:r>
          </a:p>
          <a:p>
            <a:pPr>
              <a:spcBef>
                <a:spcPts val="1400"/>
              </a:spcBef>
            </a:pPr>
            <a:r>
              <a:rPr lang="en-US" sz="2000" dirty="0"/>
              <a:t>Files were then encoded as JSON and produced through Apache Kafka to await cleaning/wrangling </a:t>
            </a:r>
          </a:p>
          <a:p>
            <a:pPr>
              <a:spcBef>
                <a:spcPts val="1400"/>
              </a:spcBef>
            </a:pPr>
            <a:r>
              <a:rPr lang="en-US" sz="2000" dirty="0"/>
              <a:t>Produced data from 1996 - 2025</a:t>
            </a:r>
          </a:p>
          <a:p>
            <a:r>
              <a:rPr lang="en-US" sz="2000" dirty="0"/>
              <a:t>https://github.com/TheNJineer/GSMLS-Analysis/blob/main/GSMLS.py</a:t>
            </a:r>
          </a:p>
          <a:p>
            <a:endParaRPr lang="en-US" sz="2000" dirty="0"/>
          </a:p>
        </p:txBody>
      </p:sp>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a:xfrm>
            <a:off x="9009888"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bg1"/>
                </a:solidFill>
                <a:latin typeface="+mn-lt"/>
              </a:rPr>
              <a:pPr>
                <a:spcAft>
                  <a:spcPts val="600"/>
                </a:spcAft>
              </a:pPr>
              <a:t>9</a:t>
            </a:fld>
            <a:endParaRPr lang="en-US" sz="1200">
              <a:solidFill>
                <a:schemeClr val="bg1"/>
              </a:solidFill>
              <a:latin typeface="+mn-lt"/>
            </a:endParaRPr>
          </a:p>
        </p:txBody>
      </p:sp>
    </p:spTree>
    <p:extLst>
      <p:ext uri="{BB962C8B-B14F-4D97-AF65-F5344CB8AC3E}">
        <p14:creationId xmlns:p14="http://schemas.microsoft.com/office/powerpoint/2010/main" val="28031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5400" kern="1200">
                <a:solidFill>
                  <a:schemeClr val="tx1"/>
                </a:solidFill>
                <a:latin typeface="+mj-lt"/>
                <a:ea typeface="+mj-ea"/>
                <a:cs typeface="+mj-cs"/>
              </a:rPr>
              <a:t>Data Cleaning/Wrangling</a:t>
            </a:r>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929384"/>
            <a:ext cx="10515600" cy="4251960"/>
          </a:xfrm>
          <a:prstGeom prst="rect">
            <a:avLst/>
          </a:prstGeom>
        </p:spPr>
        <p:txBody>
          <a:bodyPr vert="horz" lIns="91440" tIns="45720" rIns="91440" bIns="45720" rtlCol="0">
            <a:normAutofit/>
          </a:bodyPr>
          <a:lstStyle/>
          <a:p>
            <a:r>
              <a:rPr lang="en-US" sz="2200" dirty="0"/>
              <a:t>Created an automated script which consumed data from Apache Kafka and cleaned the data</a:t>
            </a:r>
          </a:p>
          <a:p>
            <a:r>
              <a:rPr lang="en-US" sz="2200" dirty="0"/>
              <a:t>Cleaning process included</a:t>
            </a:r>
          </a:p>
          <a:p>
            <a:pPr lvl="1"/>
            <a:r>
              <a:rPr lang="en-US" sz="2200" dirty="0"/>
              <a:t>Removing unwanted characters from features</a:t>
            </a:r>
          </a:p>
          <a:p>
            <a:pPr lvl="1"/>
            <a:r>
              <a:rPr lang="en-US" sz="2200" dirty="0"/>
              <a:t>Correcting feature datatypes</a:t>
            </a:r>
          </a:p>
          <a:p>
            <a:pPr lvl="1"/>
            <a:r>
              <a:rPr lang="en-US" sz="2200" dirty="0"/>
              <a:t>Parsing column values to create new features</a:t>
            </a:r>
          </a:p>
          <a:p>
            <a:pPr lvl="2"/>
            <a:r>
              <a:rPr lang="en-US" sz="2200" dirty="0"/>
              <a:t>Used Regex on columns with string datatypes to identify key features about the property (bank owned, distressed/short sale, interior/exterior features)  </a:t>
            </a:r>
          </a:p>
          <a:p>
            <a:pPr lvl="1"/>
            <a:r>
              <a:rPr lang="en-US" sz="2200" dirty="0"/>
              <a:t>Removing unwanted columns/features</a:t>
            </a:r>
          </a:p>
          <a:p>
            <a:pPr lvl="1"/>
            <a:r>
              <a:rPr lang="en-US" sz="2200" dirty="0"/>
              <a:t>Using tax data from a separate database to correct the livable square feet, lot size and year built features</a:t>
            </a:r>
          </a:p>
        </p:txBody>
      </p:sp>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10</a:t>
            </a:fld>
            <a:endParaRPr lang="en-US" sz="1200">
              <a:solidFill>
                <a:schemeClr val="tx1">
                  <a:tint val="75000"/>
                </a:schemeClr>
              </a:solidFill>
              <a:latin typeface="+mn-lt"/>
            </a:endParaRP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9EB85C-3423-DF7C-5085-7D533D0B7BD6}"/>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DCB155A-E863-9688-CBDF-24143D3D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ADAE79D-B84C-CA82-D9E4-1B361008428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5400" kern="1200" dirty="0">
                <a:solidFill>
                  <a:schemeClr val="tx1"/>
                </a:solidFill>
                <a:latin typeface="+mj-lt"/>
                <a:ea typeface="+mj-ea"/>
                <a:cs typeface="+mj-cs"/>
              </a:rPr>
              <a:t>Data Cleaning/Wrangling (cont’d)</a:t>
            </a:r>
          </a:p>
        </p:txBody>
      </p:sp>
      <p:sp>
        <p:nvSpPr>
          <p:cNvPr id="15" name="sketch line">
            <a:extLst>
              <a:ext uri="{FF2B5EF4-FFF2-40B4-BE49-F238E27FC236}">
                <a16:creationId xmlns:a16="http://schemas.microsoft.com/office/drawing/2014/main" id="{623F24E0-50BC-F239-3DBF-A97D343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81F99FC-7081-EDFE-5DED-5DBAADA11FDB}"/>
              </a:ext>
            </a:extLst>
          </p:cNvPr>
          <p:cNvSpPr>
            <a:spLocks noGrp="1"/>
          </p:cNvSpPr>
          <p:nvPr>
            <p:ph idx="4294967295"/>
          </p:nvPr>
        </p:nvSpPr>
        <p:spPr>
          <a:xfrm>
            <a:off x="838200" y="1929384"/>
            <a:ext cx="10515600" cy="4251960"/>
          </a:xfrm>
          <a:prstGeom prst="rect">
            <a:avLst/>
          </a:prstGeom>
        </p:spPr>
        <p:txBody>
          <a:bodyPr vert="horz" lIns="91440" tIns="45720" rIns="91440" bIns="45720" rtlCol="0">
            <a:normAutofit/>
          </a:bodyPr>
          <a:lstStyle/>
          <a:p>
            <a:r>
              <a:rPr lang="en-US" dirty="0"/>
              <a:t>Cleaning processes (cont’d)</a:t>
            </a:r>
          </a:p>
          <a:p>
            <a:pPr lvl="1"/>
            <a:r>
              <a:rPr lang="en-US" dirty="0"/>
              <a:t>Use Pandas to create aggregated data tables, per year per municipality to impute data for null and/or incorrect data</a:t>
            </a:r>
          </a:p>
          <a:p>
            <a:pPr lvl="1"/>
            <a:r>
              <a:rPr lang="en-US" dirty="0"/>
              <a:t>Use feature skews to understand which data needed transforming to resemble normal data distribution</a:t>
            </a:r>
          </a:p>
          <a:p>
            <a:pPr lvl="1"/>
            <a:r>
              <a:rPr lang="en-US" dirty="0"/>
              <a:t>Send associated images to NoSQL database</a:t>
            </a:r>
          </a:p>
          <a:p>
            <a:r>
              <a:rPr lang="en-US" dirty="0"/>
              <a:t>Data stored in PostgreSQL once cleaning is complete</a:t>
            </a:r>
          </a:p>
          <a:p>
            <a:r>
              <a:rPr lang="en-US" dirty="0"/>
              <a:t>https://github.com/TheNJineer/GSMLS-Analysis/blob/main/Kafka_GSMLSConsumer.py </a:t>
            </a:r>
          </a:p>
        </p:txBody>
      </p:sp>
      <p:sp>
        <p:nvSpPr>
          <p:cNvPr id="4" name="Slide Number Placeholder 3">
            <a:extLst>
              <a:ext uri="{FF2B5EF4-FFF2-40B4-BE49-F238E27FC236}">
                <a16:creationId xmlns:a16="http://schemas.microsoft.com/office/drawing/2014/main" id="{7BA1E99C-B4B1-D419-34FA-79F02CA3241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11</a:t>
            </a:fld>
            <a:endParaRPr lang="en-US" sz="1200">
              <a:solidFill>
                <a:schemeClr val="tx1">
                  <a:tint val="75000"/>
                </a:schemeClr>
              </a:solidFill>
              <a:latin typeface="+mn-lt"/>
            </a:endParaRPr>
          </a:p>
        </p:txBody>
      </p:sp>
    </p:spTree>
    <p:extLst>
      <p:ext uri="{BB962C8B-B14F-4D97-AF65-F5344CB8AC3E}">
        <p14:creationId xmlns:p14="http://schemas.microsoft.com/office/powerpoint/2010/main" val="3969145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DC224CF-1B74-F3EE-A7EE-0A70C9E076EC}"/>
              </a:ext>
            </a:extLst>
          </p:cNvPr>
          <p:cNvPicPr>
            <a:picLocks noChangeAspect="1"/>
          </p:cNvPicPr>
          <p:nvPr/>
        </p:nvPicPr>
        <p:blipFill>
          <a:blip r:embed="rId2"/>
          <a:srcRect l="3343" r="-2" b="-2"/>
          <a:stretch>
            <a:fillRect/>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8" name="Picture 7">
            <a:extLst>
              <a:ext uri="{FF2B5EF4-FFF2-40B4-BE49-F238E27FC236}">
                <a16:creationId xmlns:a16="http://schemas.microsoft.com/office/drawing/2014/main" id="{B50E97D5-BC97-FD40-A76C-B9540C3A0642}"/>
              </a:ext>
            </a:extLst>
          </p:cNvPr>
          <p:cNvPicPr>
            <a:picLocks noChangeAspect="1"/>
          </p:cNvPicPr>
          <p:nvPr/>
        </p:nvPicPr>
        <p:blipFill>
          <a:blip r:embed="rId3"/>
          <a:srcRect t="10168" r="-2" b="-2"/>
          <a:stretch>
            <a:fillRect/>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5" name="Freeform: Shape 14">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448056" y="859536"/>
            <a:ext cx="4832802" cy="1243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400" kern="1200" dirty="0">
                <a:solidFill>
                  <a:schemeClr val="tx1"/>
                </a:solidFill>
                <a:latin typeface="+mj-lt"/>
                <a:ea typeface="+mj-ea"/>
                <a:cs typeface="+mj-cs"/>
              </a:rPr>
              <a:t>Build an Interactive Map with Folium</a:t>
            </a:r>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1" name="Rectangle 2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448056" y="2512611"/>
            <a:ext cx="4832803" cy="3664351"/>
          </a:xfrm>
          <a:prstGeom prst="rect">
            <a:avLst/>
          </a:prstGeom>
        </p:spPr>
        <p:txBody>
          <a:bodyPr vert="horz" lIns="91440" tIns="45720" rIns="91440" bIns="45720" rtlCol="0">
            <a:normAutofit lnSpcReduction="10000"/>
          </a:bodyPr>
          <a:lstStyle/>
          <a:p>
            <a:pPr>
              <a:spcBef>
                <a:spcPts val="1400"/>
              </a:spcBef>
            </a:pPr>
            <a:r>
              <a:rPr lang="en-US" sz="2000" dirty="0"/>
              <a:t>The dashboard uses Folium to display geospatial data on a state and local level</a:t>
            </a:r>
          </a:p>
          <a:p>
            <a:pPr>
              <a:spcBef>
                <a:spcPts val="1400"/>
              </a:spcBef>
            </a:pPr>
            <a:r>
              <a:rPr lang="en-US" sz="2000" dirty="0"/>
              <a:t>The State level view allows users to hover over municipalities to get real estate summaries on median sales price, average listing price percentage received, closed sales and mortgage rates</a:t>
            </a:r>
          </a:p>
          <a:p>
            <a:pPr>
              <a:spcBef>
                <a:spcPts val="1400"/>
              </a:spcBef>
            </a:pPr>
            <a:r>
              <a:rPr lang="en-US" sz="2000" dirty="0"/>
              <a:t>The local level view occurs when a user searches the comparable homes for their target property</a:t>
            </a:r>
          </a:p>
          <a:p>
            <a:r>
              <a:rPr lang="en-US" sz="2000" dirty="0"/>
              <a:t>https://github.com/TheNJineer/GSMLS-Analysis/blob/main/GSMLS_dashboard.py</a:t>
            </a:r>
          </a:p>
          <a:p>
            <a:endParaRPr lang="en-US" sz="2000" dirty="0"/>
          </a:p>
          <a:p>
            <a:endParaRPr lang="en-US" sz="2000" dirty="0"/>
          </a:p>
        </p:txBody>
      </p:sp>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a:xfrm>
            <a:off x="9009888"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bg1"/>
                </a:solidFill>
                <a:latin typeface="+mn-lt"/>
              </a:rPr>
              <a:pPr>
                <a:spcAft>
                  <a:spcPts val="600"/>
                </a:spcAft>
              </a:pPr>
              <a:t>12</a:t>
            </a:fld>
            <a:endParaRPr lang="en-US" sz="1200">
              <a:solidFill>
                <a:schemeClr val="bg1"/>
              </a:solidFill>
              <a:latin typeface="+mn-lt"/>
            </a:endParaRPr>
          </a:p>
        </p:txBody>
      </p:sp>
    </p:spTree>
    <p:extLst>
      <p:ext uri="{BB962C8B-B14F-4D97-AF65-F5344CB8AC3E}">
        <p14:creationId xmlns:p14="http://schemas.microsoft.com/office/powerpoint/2010/main" val="14811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CF0118-F104-FDCB-9D26-3082AAD4A51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416C68EB-19BA-0D2C-92B4-46C328EECC4D}"/>
              </a:ext>
            </a:extLst>
          </p:cNvPr>
          <p:cNvSpPr txBox="1">
            <a:spLocks/>
          </p:cNvSpPr>
          <p:nvPr/>
        </p:nvSpPr>
        <p:spPr>
          <a:xfrm>
            <a:off x="463688" y="597392"/>
            <a:ext cx="5089382" cy="1362037"/>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5400" dirty="0">
                <a:solidFill>
                  <a:srgbClr val="0B49CB"/>
                </a:solidFill>
                <a:latin typeface="Abadi"/>
              </a:rPr>
              <a:t>Linear Correlation Matrix</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6C2C2AA-4921-A99C-5DA0-FA2978EDA424}"/>
              </a:ext>
            </a:extLst>
          </p:cNvPr>
          <p:cNvPicPr>
            <a:picLocks noChangeAspect="1"/>
          </p:cNvPicPr>
          <p:nvPr/>
        </p:nvPicPr>
        <p:blipFill>
          <a:blip r:embed="rId3"/>
          <a:stretch>
            <a:fillRect/>
          </a:stretch>
        </p:blipFill>
        <p:spPr>
          <a:xfrm>
            <a:off x="5922492" y="1738823"/>
            <a:ext cx="5536001" cy="3321600"/>
          </a:xfrm>
          <a:prstGeom prst="rect">
            <a:avLst/>
          </a:prstGeom>
        </p:spPr>
      </p:pic>
      <p:sp>
        <p:nvSpPr>
          <p:cNvPr id="4" name="Slide Number Placeholder 3">
            <a:extLst>
              <a:ext uri="{FF2B5EF4-FFF2-40B4-BE49-F238E27FC236}">
                <a16:creationId xmlns:a16="http://schemas.microsoft.com/office/drawing/2014/main" id="{02C07A09-437E-3265-E070-451D7F988E5F}"/>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13</a:t>
            </a:fld>
            <a:endParaRPr lang="en-US" sz="1200">
              <a:solidFill>
                <a:schemeClr val="tx1">
                  <a:tint val="75000"/>
                </a:schemeClr>
              </a:solidFill>
              <a:latin typeface="+mn-lt"/>
            </a:endParaRPr>
          </a:p>
        </p:txBody>
      </p:sp>
      <p:sp>
        <p:nvSpPr>
          <p:cNvPr id="6" name="Content Placeholder 2">
            <a:extLst>
              <a:ext uri="{FF2B5EF4-FFF2-40B4-BE49-F238E27FC236}">
                <a16:creationId xmlns:a16="http://schemas.microsoft.com/office/drawing/2014/main" id="{0D77FEC8-5D35-72B5-6D62-7B1775589689}"/>
              </a:ext>
            </a:extLst>
          </p:cNvPr>
          <p:cNvSpPr txBox="1">
            <a:spLocks/>
          </p:cNvSpPr>
          <p:nvPr/>
        </p:nvSpPr>
        <p:spPr>
          <a:xfrm>
            <a:off x="881116" y="2109115"/>
            <a:ext cx="4538496" cy="446313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The correlation matrix shows how the features were linearly connected</a:t>
            </a:r>
          </a:p>
          <a:p>
            <a:pPr>
              <a:lnSpc>
                <a:spcPct val="100000"/>
              </a:lnSpc>
              <a:spcBef>
                <a:spcPts val="1400"/>
              </a:spcBef>
            </a:pPr>
            <a:r>
              <a:rPr lang="en-US" sz="2200" dirty="0">
                <a:solidFill>
                  <a:schemeClr val="accent3">
                    <a:lumMod val="25000"/>
                  </a:schemeClr>
                </a:solidFill>
                <a:latin typeface="Abadi" panose="020B0604020104020204" pitchFamily="34" charset="0"/>
              </a:rPr>
              <a:t>The Status Short and Sales Price correlations were used as the baseline for minimum input nodes being fed into the neural networks output layers</a:t>
            </a:r>
          </a:p>
          <a:p>
            <a:pPr>
              <a:lnSpc>
                <a:spcPct val="100000"/>
              </a:lnSpc>
              <a:spcBef>
                <a:spcPts val="1400"/>
              </a:spcBef>
            </a:pPr>
            <a:r>
              <a:rPr lang="en-US" sz="2200" dirty="0">
                <a:solidFill>
                  <a:schemeClr val="accent3">
                    <a:lumMod val="25000"/>
                  </a:schemeClr>
                </a:solidFill>
                <a:latin typeface="Abadi" panose="020B0604020104020204" pitchFamily="34" charset="0"/>
              </a:rPr>
              <a:t>Signification correlations (based on magnitude, not direction):</a:t>
            </a:r>
          </a:p>
          <a:p>
            <a:pPr lvl="1">
              <a:lnSpc>
                <a:spcPct val="100000"/>
              </a:lnSpc>
              <a:spcBef>
                <a:spcPts val="1400"/>
              </a:spcBef>
            </a:pPr>
            <a:r>
              <a:rPr lang="en-US" sz="1800" dirty="0">
                <a:solidFill>
                  <a:schemeClr val="accent3">
                    <a:lumMod val="25000"/>
                  </a:schemeClr>
                </a:solidFill>
                <a:latin typeface="Abadi" panose="020B0604020104020204" pitchFamily="34" charset="0"/>
              </a:rPr>
              <a:t>List Price – 0.61</a:t>
            </a:r>
          </a:p>
          <a:p>
            <a:pPr lvl="1">
              <a:lnSpc>
                <a:spcPct val="100000"/>
              </a:lnSpc>
              <a:spcBef>
                <a:spcPts val="1400"/>
              </a:spcBef>
            </a:pPr>
            <a:r>
              <a:rPr lang="en-US" sz="1800" dirty="0">
                <a:solidFill>
                  <a:schemeClr val="accent3">
                    <a:lumMod val="25000"/>
                  </a:schemeClr>
                </a:solidFill>
                <a:latin typeface="Abadi" panose="020B0604020104020204" pitchFamily="34" charset="0"/>
              </a:rPr>
              <a:t>Tax Amount – 0.51</a:t>
            </a:r>
          </a:p>
          <a:p>
            <a:pPr lvl="1">
              <a:lnSpc>
                <a:spcPct val="100000"/>
              </a:lnSpc>
              <a:spcBef>
                <a:spcPts val="1400"/>
              </a:spcBef>
            </a:pPr>
            <a:r>
              <a:rPr lang="en-US" sz="1800" dirty="0">
                <a:solidFill>
                  <a:schemeClr val="accent3">
                    <a:lumMod val="25000"/>
                  </a:schemeClr>
                </a:solidFill>
                <a:latin typeface="Abadi" panose="020B0604020104020204" pitchFamily="34" charset="0"/>
              </a:rPr>
              <a:t>Total Assessment – 0.47</a:t>
            </a:r>
          </a:p>
          <a:p>
            <a:pPr lvl="1">
              <a:lnSpc>
                <a:spcPct val="100000"/>
              </a:lnSpc>
              <a:spcBef>
                <a:spcPts val="1400"/>
              </a:spcBef>
            </a:pPr>
            <a:r>
              <a:rPr lang="en-US" sz="1800" dirty="0">
                <a:solidFill>
                  <a:schemeClr val="accent3">
                    <a:lumMod val="25000"/>
                  </a:schemeClr>
                </a:solidFill>
                <a:latin typeface="Abadi" panose="020B0604020104020204" pitchFamily="34" charset="0"/>
              </a:rPr>
              <a:t>Day on Market – 0.43</a:t>
            </a:r>
          </a:p>
          <a:p>
            <a:pPr lvl="1">
              <a:lnSpc>
                <a:spcPct val="100000"/>
              </a:lnSpc>
              <a:spcBef>
                <a:spcPts val="1400"/>
              </a:spcBef>
            </a:pPr>
            <a:r>
              <a:rPr lang="en-US" sz="1800" dirty="0">
                <a:solidFill>
                  <a:schemeClr val="accent3">
                    <a:lumMod val="25000"/>
                  </a:schemeClr>
                </a:solidFill>
                <a:latin typeface="Abadi" panose="020B0604020104020204" pitchFamily="34" charset="0"/>
              </a:rPr>
              <a:t>Livable </a:t>
            </a:r>
            <a:r>
              <a:rPr lang="en-US" sz="1800" dirty="0" err="1">
                <a:solidFill>
                  <a:schemeClr val="accent3">
                    <a:lumMod val="25000"/>
                  </a:schemeClr>
                </a:solidFill>
                <a:latin typeface="Abadi" panose="020B0604020104020204" pitchFamily="34" charset="0"/>
              </a:rPr>
              <a:t>Sqft</a:t>
            </a:r>
            <a:r>
              <a:rPr lang="en-US" sz="1800" dirty="0">
                <a:solidFill>
                  <a:schemeClr val="accent3">
                    <a:lumMod val="25000"/>
                  </a:schemeClr>
                </a:solidFill>
                <a:latin typeface="Abadi" panose="020B0604020104020204" pitchFamily="34" charset="0"/>
              </a:rPr>
              <a:t> – 0.39</a:t>
            </a:r>
          </a:p>
          <a:p>
            <a:pPr lvl="1">
              <a:lnSpc>
                <a:spcPct val="100000"/>
              </a:lnSpc>
              <a:spcBef>
                <a:spcPts val="1400"/>
              </a:spcBef>
            </a:pPr>
            <a:endParaRPr lang="en-US" sz="1800" dirty="0">
              <a:solidFill>
                <a:schemeClr val="accent3">
                  <a:lumMod val="25000"/>
                </a:schemeClr>
              </a:solidFill>
              <a:latin typeface="Abadi" panose="020B0604020104020204" pitchFamily="34" charset="0"/>
            </a:endParaRPr>
          </a:p>
          <a:p>
            <a:pPr lvl="1">
              <a:lnSpc>
                <a:spcPct val="100000"/>
              </a:lnSpc>
              <a:spcBef>
                <a:spcPts val="1400"/>
              </a:spcBef>
            </a:pPr>
            <a:endParaRPr lang="en-US" sz="1800" dirty="0">
              <a:solidFill>
                <a:schemeClr val="accent3">
                  <a:lumMod val="25000"/>
                </a:schemeClr>
              </a:solidFill>
              <a:latin typeface="Abadi" panose="020B0604020104020204" pitchFamily="34" charset="0"/>
            </a:endParaRPr>
          </a:p>
          <a:p>
            <a:pPr lvl="1"/>
            <a:endParaRPr lang="en-US" sz="1800" dirty="0"/>
          </a:p>
          <a:p>
            <a:pPr marL="457200" lvl="1" indent="0">
              <a:buNone/>
            </a:pPr>
            <a:endParaRPr lang="en-US" sz="1800" dirty="0"/>
          </a:p>
        </p:txBody>
      </p:sp>
    </p:spTree>
    <p:extLst>
      <p:ext uri="{BB962C8B-B14F-4D97-AF65-F5344CB8AC3E}">
        <p14:creationId xmlns:p14="http://schemas.microsoft.com/office/powerpoint/2010/main" val="311864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DB27BC-AD19-80AC-BC49-F8858A8E98A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5C5E614-B746-7D0A-1B73-F1E4707EAE4A}"/>
              </a:ext>
            </a:extLst>
          </p:cNvPr>
          <p:cNvSpPr txBox="1">
            <a:spLocks/>
          </p:cNvSpPr>
          <p:nvPr/>
        </p:nvSpPr>
        <p:spPr>
          <a:xfrm>
            <a:off x="572493" y="238539"/>
            <a:ext cx="11018520" cy="14344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5400">
                <a:solidFill>
                  <a:schemeClr val="tx1"/>
                </a:solidFill>
                <a:latin typeface="+mj-lt"/>
                <a:ea typeface="+mj-ea"/>
                <a:cs typeface="+mj-cs"/>
              </a:rPr>
              <a:t>Predictive Analysis: Transformations</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658E0EF5-3016-0C3E-5D09-7CE09A42C229}"/>
              </a:ext>
            </a:extLst>
          </p:cNvPr>
          <p:cNvSpPr>
            <a:spLocks noGrp="1"/>
          </p:cNvSpPr>
          <p:nvPr>
            <p:ph idx="4294967295"/>
          </p:nvPr>
        </p:nvSpPr>
        <p:spPr>
          <a:xfrm>
            <a:off x="272143" y="2071316"/>
            <a:ext cx="7013902" cy="4354738"/>
          </a:xfrm>
          <a:prstGeom prst="rect">
            <a:avLst/>
          </a:prstGeom>
        </p:spPr>
        <p:txBody>
          <a:bodyPr vert="horz" lIns="91440" tIns="45720" rIns="91440" bIns="45720" rtlCol="0" anchor="t">
            <a:normAutofit/>
          </a:bodyPr>
          <a:lstStyle/>
          <a:p>
            <a:pPr>
              <a:spcBef>
                <a:spcPts val="1400"/>
              </a:spcBef>
            </a:pPr>
            <a:r>
              <a:rPr lang="en-US" sz="1400" dirty="0"/>
              <a:t>To prepare the data for machine learning training, I subjected the data to two stages of cleaning</a:t>
            </a:r>
          </a:p>
          <a:p>
            <a:pPr lvl="1">
              <a:spcBef>
                <a:spcPts val="1400"/>
              </a:spcBef>
            </a:pPr>
            <a:r>
              <a:rPr lang="en-US" sz="1400" dirty="0"/>
              <a:t>Stage 1: Remove the obvious outliers</a:t>
            </a:r>
          </a:p>
          <a:p>
            <a:pPr lvl="2">
              <a:spcBef>
                <a:spcPts val="1400"/>
              </a:spcBef>
            </a:pPr>
            <a:r>
              <a:rPr lang="en-US" sz="1400" dirty="0"/>
              <a:t>Obvious outliers were ones where I concluded the data couldn’t be imputed. An unexhausted list of examples could be if a house was sold and had less than 2 rooms total, was sold but the  listing price was $0, property was sold but have zero bathrooms, or the property spent less than zero days on the market.</a:t>
            </a:r>
          </a:p>
          <a:p>
            <a:pPr lvl="1">
              <a:spcBef>
                <a:spcPts val="1400"/>
              </a:spcBef>
            </a:pPr>
            <a:r>
              <a:rPr lang="en-US" sz="1400" dirty="0"/>
              <a:t>Stage 2: Create filters using descriptive statistics</a:t>
            </a:r>
          </a:p>
          <a:p>
            <a:pPr lvl="2">
              <a:spcBef>
                <a:spcPts val="1400"/>
              </a:spcBef>
            </a:pPr>
            <a:r>
              <a:rPr lang="en-US" sz="1400" dirty="0"/>
              <a:t>Looped through the target features to determine the min and max as well as the 25</a:t>
            </a:r>
            <a:r>
              <a:rPr lang="en-US" sz="1400" baseline="30000" dirty="0"/>
              <a:t>th</a:t>
            </a:r>
            <a:r>
              <a:rPr lang="en-US" sz="1400" dirty="0"/>
              <a:t>, 50</a:t>
            </a:r>
            <a:r>
              <a:rPr lang="en-US" sz="1400" baseline="30000" dirty="0"/>
              <a:t>th</a:t>
            </a:r>
            <a:r>
              <a:rPr lang="en-US" sz="1400" dirty="0"/>
              <a:t> and 75</a:t>
            </a:r>
            <a:r>
              <a:rPr lang="en-US" sz="1400" baseline="30000" dirty="0"/>
              <a:t>th</a:t>
            </a:r>
            <a:r>
              <a:rPr lang="en-US" sz="1400" dirty="0"/>
              <a:t> quartiles, respectively. I then standardized the data and filtered the data using the Z-scores so everything was on the same scale</a:t>
            </a:r>
          </a:p>
          <a:p>
            <a:pPr lvl="2">
              <a:spcBef>
                <a:spcPts val="1400"/>
              </a:spcBef>
            </a:pPr>
            <a:r>
              <a:rPr lang="en-US" sz="1400" dirty="0"/>
              <a:t>To remove outliers but retain as much data as possible, I allowed  data up to 5 standard deviations to be used (maximum Z-scores for some features ranged from 11 to 25. I’ve concluded this could either be incorrect data or data from mansions or unusually sold properties)</a:t>
            </a:r>
          </a:p>
          <a:p>
            <a:endParaRPr lang="en-US" sz="1200" dirty="0"/>
          </a:p>
        </p:txBody>
      </p:sp>
      <p:pic>
        <p:nvPicPr>
          <p:cNvPr id="7" name="Picture 6">
            <a:extLst>
              <a:ext uri="{FF2B5EF4-FFF2-40B4-BE49-F238E27FC236}">
                <a16:creationId xmlns:a16="http://schemas.microsoft.com/office/drawing/2014/main" id="{16EEE2AD-F775-0708-FAFF-B7F0A30094BB}"/>
              </a:ext>
            </a:extLst>
          </p:cNvPr>
          <p:cNvPicPr>
            <a:picLocks noChangeAspect="1"/>
          </p:cNvPicPr>
          <p:nvPr/>
        </p:nvPicPr>
        <p:blipFill>
          <a:blip r:embed="rId2"/>
          <a:srcRect r="15580"/>
          <a:stretch>
            <a:fillRect/>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DA6BB39A-38F2-57FF-1E72-793DB03D516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prstClr val="black">
                    <a:tint val="75000"/>
                  </a:prstClr>
                </a:solidFill>
                <a:latin typeface="Calibri" panose="020F0502020204030204"/>
              </a:rPr>
              <a:pPr>
                <a:spcAft>
                  <a:spcPts val="600"/>
                </a:spcAft>
                <a:defRPr/>
              </a:pPr>
              <a:t>14</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3868402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87DAE262-9C97-E64D-0A03-52602AB459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7FCB50-27C0-7822-B8FC-C823C2EE74E2}"/>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6CAFF12E-53BF-1CFB-F8D5-A13368083814}"/>
              </a:ext>
            </a:extLst>
          </p:cNvPr>
          <p:cNvSpPr>
            <a:spLocks noGrp="1"/>
          </p:cNvSpPr>
          <p:nvPr>
            <p:ph idx="4294967295"/>
          </p:nvPr>
        </p:nvSpPr>
        <p:spPr>
          <a:xfrm>
            <a:off x="1170196" y="1432645"/>
            <a:ext cx="9851607" cy="2955369"/>
          </a:xfrm>
          <a:prstGeom prst="rect">
            <a:avLst/>
          </a:prstGeom>
        </p:spPr>
        <p:txBody>
          <a:bodyPr>
            <a:normAutofit fontScale="85000" lnSpcReduction="2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After the data was filtered, the feature skews were recorded to determine if transformations were necessary to resemble normally distributed data</a:t>
            </a:r>
          </a:p>
          <a:p>
            <a:pPr>
              <a:lnSpc>
                <a:spcPct val="100000"/>
              </a:lnSpc>
              <a:spcBef>
                <a:spcPts val="1400"/>
              </a:spcBef>
            </a:pPr>
            <a:r>
              <a:rPr lang="en-US" sz="2200" dirty="0">
                <a:solidFill>
                  <a:schemeClr val="accent3">
                    <a:lumMod val="25000"/>
                  </a:schemeClr>
                </a:solidFill>
                <a:latin typeface="Abadi" panose="020B0604020104020204" pitchFamily="34" charset="0"/>
              </a:rPr>
              <a:t>The data also needed to be standardized, and string features encoded to numerical values</a:t>
            </a:r>
          </a:p>
          <a:p>
            <a:pPr>
              <a:lnSpc>
                <a:spcPct val="100000"/>
              </a:lnSpc>
              <a:spcBef>
                <a:spcPts val="1400"/>
              </a:spcBef>
            </a:pPr>
            <a:r>
              <a:rPr lang="en-US" sz="2200" dirty="0">
                <a:solidFill>
                  <a:schemeClr val="accent3">
                    <a:lumMod val="25000"/>
                  </a:schemeClr>
                </a:solidFill>
                <a:latin typeface="Abadi" panose="020B0604020104020204" pitchFamily="34" charset="0"/>
              </a:rPr>
              <a:t>The following transformations were used:</a:t>
            </a:r>
          </a:p>
          <a:p>
            <a:pPr lvl="1">
              <a:lnSpc>
                <a:spcPct val="100000"/>
              </a:lnSpc>
              <a:spcBef>
                <a:spcPts val="1400"/>
              </a:spcBef>
            </a:pPr>
            <a:r>
              <a:rPr lang="en-US" sz="1400" dirty="0">
                <a:solidFill>
                  <a:schemeClr val="accent3">
                    <a:lumMod val="25000"/>
                  </a:schemeClr>
                </a:solidFill>
                <a:latin typeface="Abadi" panose="020B0604020104020204" pitchFamily="34" charset="0"/>
              </a:rPr>
              <a:t>Yeo-Johnson Power Transformation  - fix skewed data</a:t>
            </a:r>
          </a:p>
          <a:p>
            <a:pPr lvl="1">
              <a:lnSpc>
                <a:spcPct val="100000"/>
              </a:lnSpc>
              <a:spcBef>
                <a:spcPts val="1400"/>
              </a:spcBef>
            </a:pPr>
            <a:r>
              <a:rPr lang="en-US" sz="1400" dirty="0">
                <a:solidFill>
                  <a:schemeClr val="accent3">
                    <a:lumMod val="25000"/>
                  </a:schemeClr>
                </a:solidFill>
                <a:latin typeface="Abadi" panose="020B0604020104020204" pitchFamily="34" charset="0"/>
              </a:rPr>
              <a:t>Min-Max Absolute Scaling – standardization technique</a:t>
            </a:r>
          </a:p>
          <a:p>
            <a:pPr lvl="1">
              <a:lnSpc>
                <a:spcPct val="100000"/>
              </a:lnSpc>
              <a:spcBef>
                <a:spcPts val="1400"/>
              </a:spcBef>
            </a:pPr>
            <a:r>
              <a:rPr lang="en-US" sz="1400" dirty="0">
                <a:solidFill>
                  <a:schemeClr val="accent3">
                    <a:lumMod val="25000"/>
                  </a:schemeClr>
                </a:solidFill>
                <a:latin typeface="Abadi" panose="020B0604020104020204" pitchFamily="34" charset="0"/>
              </a:rPr>
              <a:t>Count Encoder – Assign a numerical value to a string value based on frequency of occurrence</a:t>
            </a:r>
          </a:p>
          <a:p>
            <a:r>
              <a:rPr lang="en-US" sz="2200" dirty="0">
                <a:latin typeface="Abadi" panose="020B0604020104020204" pitchFamily="34" charset="0"/>
              </a:rPr>
              <a:t>A custom data transformer had to be constructed using Sci-kit Learn Feature Union to ensure the correct transformations were applied to the correct columns</a:t>
            </a:r>
          </a:p>
        </p:txBody>
      </p:sp>
      <p:sp>
        <p:nvSpPr>
          <p:cNvPr id="3" name="Title 1">
            <a:extLst>
              <a:ext uri="{FF2B5EF4-FFF2-40B4-BE49-F238E27FC236}">
                <a16:creationId xmlns:a16="http://schemas.microsoft.com/office/drawing/2014/main" id="{4D702834-B7E5-B86F-29D4-BA412447A9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Transformations (cont’d)</a:t>
            </a:r>
          </a:p>
        </p:txBody>
      </p:sp>
      <p:pic>
        <p:nvPicPr>
          <p:cNvPr id="2" name="Picture 1">
            <a:extLst>
              <a:ext uri="{FF2B5EF4-FFF2-40B4-BE49-F238E27FC236}">
                <a16:creationId xmlns:a16="http://schemas.microsoft.com/office/drawing/2014/main" id="{0020C791-0DC1-81FF-0C94-AA3E624AB8E6}"/>
              </a:ext>
            </a:extLst>
          </p:cNvPr>
          <p:cNvPicPr>
            <a:picLocks noChangeAspect="1"/>
          </p:cNvPicPr>
          <p:nvPr/>
        </p:nvPicPr>
        <p:blipFill>
          <a:blip r:embed="rId3"/>
          <a:stretch>
            <a:fillRect/>
          </a:stretch>
        </p:blipFill>
        <p:spPr>
          <a:xfrm>
            <a:off x="1093798" y="4388014"/>
            <a:ext cx="10004403" cy="2115495"/>
          </a:xfrm>
          <a:prstGeom prst="rect">
            <a:avLst/>
          </a:prstGeom>
        </p:spPr>
      </p:pic>
    </p:spTree>
    <p:extLst>
      <p:ext uri="{BB962C8B-B14F-4D97-AF65-F5344CB8AC3E}">
        <p14:creationId xmlns:p14="http://schemas.microsoft.com/office/powerpoint/2010/main" val="3566244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D8C916-1D40-A629-836B-0EEECD66A95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22080ADF-8C5C-BCEC-506F-3D29B755A2DD}"/>
              </a:ext>
            </a:extLst>
          </p:cNvPr>
          <p:cNvSpPr txBox="1">
            <a:spLocks/>
          </p:cNvSpPr>
          <p:nvPr/>
        </p:nvSpPr>
        <p:spPr>
          <a:xfrm>
            <a:off x="589560" y="856180"/>
            <a:ext cx="4560584" cy="11280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a:solidFill>
                  <a:schemeClr val="tx1"/>
                </a:solidFill>
                <a:latin typeface="+mj-lt"/>
                <a:ea typeface="+mj-ea"/>
                <a:cs typeface="+mj-cs"/>
              </a:rPr>
              <a:t>Predictive Analysis: Model Training</a:t>
            </a:r>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0F587164-2B34-AFAD-FDCE-F9E2213BA376}"/>
              </a:ext>
            </a:extLst>
          </p:cNvPr>
          <p:cNvSpPr>
            <a:spLocks noGrp="1"/>
          </p:cNvSpPr>
          <p:nvPr>
            <p:ph idx="4294967295"/>
          </p:nvPr>
        </p:nvSpPr>
        <p:spPr>
          <a:xfrm>
            <a:off x="590719" y="2330505"/>
            <a:ext cx="4559425" cy="3979585"/>
          </a:xfrm>
          <a:prstGeom prst="rect">
            <a:avLst/>
          </a:prstGeom>
        </p:spPr>
        <p:txBody>
          <a:bodyPr vert="horz" lIns="91440" tIns="45720" rIns="91440" bIns="45720" rtlCol="0" anchor="ctr">
            <a:normAutofit/>
          </a:bodyPr>
          <a:lstStyle/>
          <a:p>
            <a:pPr>
              <a:spcBef>
                <a:spcPts val="1400"/>
              </a:spcBef>
            </a:pPr>
            <a:r>
              <a:rPr lang="en-US" sz="2000" dirty="0"/>
              <a:t>Before training both classification and regression models, I needed a method to determine the best  combination of hyperparameters to use for each model</a:t>
            </a:r>
          </a:p>
          <a:p>
            <a:pPr>
              <a:spcBef>
                <a:spcPts val="1400"/>
              </a:spcBef>
            </a:pPr>
            <a:r>
              <a:rPr lang="en-US" sz="2000" dirty="0"/>
              <a:t>TensorFlow Keras doesn’t have a native Grid Search CV function, but the closest thing to it the Keras Tuner object</a:t>
            </a:r>
          </a:p>
          <a:p>
            <a:r>
              <a:rPr lang="en-US" sz="2000" dirty="0"/>
              <a:t>Keras Tuner is less exhaustive than Grid Search but it can provide a starting point for good hyperparameters</a:t>
            </a:r>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45D4571-D1BE-6009-2626-D3EB6EFDB5D8}"/>
              </a:ext>
            </a:extLst>
          </p:cNvPr>
          <p:cNvPicPr>
            <a:picLocks noChangeAspect="1"/>
          </p:cNvPicPr>
          <p:nvPr/>
        </p:nvPicPr>
        <p:blipFill>
          <a:blip r:embed="rId2"/>
          <a:srcRect r="9219" b="-1"/>
          <a:stretch>
            <a:fillRect/>
          </a:stretch>
        </p:blipFill>
        <p:spPr>
          <a:xfrm>
            <a:off x="5977788" y="799352"/>
            <a:ext cx="5425410" cy="5259296"/>
          </a:xfrm>
          <a:prstGeom prst="rect">
            <a:avLst/>
          </a:prstGeom>
        </p:spPr>
      </p:pic>
      <p:sp>
        <p:nvSpPr>
          <p:cNvPr id="4" name="Slide Number Placeholder 3">
            <a:extLst>
              <a:ext uri="{FF2B5EF4-FFF2-40B4-BE49-F238E27FC236}">
                <a16:creationId xmlns:a16="http://schemas.microsoft.com/office/drawing/2014/main" id="{A4053308-AB1F-95D1-EB38-C6685656E60D}"/>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prstClr val="black">
                    <a:tint val="75000"/>
                  </a:prstClr>
                </a:solidFill>
                <a:latin typeface="Calibri" panose="020F0502020204030204"/>
              </a:rPr>
              <a:pPr>
                <a:spcAft>
                  <a:spcPts val="600"/>
                </a:spcAft>
                <a:defRPr/>
              </a:pPr>
              <a:t>16</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1633564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CD24E9-07AB-133C-49B2-C19DD10642B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7A273A1-0B45-BA92-880D-FCD9B160D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5E8FE227-935E-3CBB-7209-501E51D0909C}"/>
              </a:ext>
            </a:extLst>
          </p:cNvPr>
          <p:cNvSpPr txBox="1">
            <a:spLocks/>
          </p:cNvSpPr>
          <p:nvPr/>
        </p:nvSpPr>
        <p:spPr>
          <a:xfrm>
            <a:off x="589560" y="856180"/>
            <a:ext cx="4560584" cy="11280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dirty="0">
                <a:solidFill>
                  <a:schemeClr val="tx1"/>
                </a:solidFill>
                <a:latin typeface="+mj-lt"/>
                <a:ea typeface="+mj-ea"/>
                <a:cs typeface="+mj-cs"/>
              </a:rPr>
              <a:t>Predictive Analysis: Model Training (cont’d)</a:t>
            </a:r>
          </a:p>
        </p:txBody>
      </p:sp>
      <p:grpSp>
        <p:nvGrpSpPr>
          <p:cNvPr id="16" name="Group 15">
            <a:extLst>
              <a:ext uri="{FF2B5EF4-FFF2-40B4-BE49-F238E27FC236}">
                <a16:creationId xmlns:a16="http://schemas.microsoft.com/office/drawing/2014/main" id="{5AF41548-4E7B-C8D5-A34D-D01451B454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4F01549C-E371-DA37-53C8-6A39E20A7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D2D1E95-B9B2-DCED-7396-D0A175FB2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4BBB825-9881-0C25-6351-30C713D36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C21B592B-3AEF-AB9C-9D0C-906073ACB951}"/>
              </a:ext>
            </a:extLst>
          </p:cNvPr>
          <p:cNvSpPr>
            <a:spLocks noGrp="1"/>
          </p:cNvSpPr>
          <p:nvPr>
            <p:ph idx="4294967295"/>
          </p:nvPr>
        </p:nvSpPr>
        <p:spPr>
          <a:xfrm>
            <a:off x="239486" y="2330505"/>
            <a:ext cx="5200047" cy="3979585"/>
          </a:xfrm>
          <a:prstGeom prst="rect">
            <a:avLst/>
          </a:prstGeom>
        </p:spPr>
        <p:txBody>
          <a:bodyPr vert="horz" lIns="91440" tIns="45720" rIns="91440" bIns="45720" rtlCol="0" anchor="ctr">
            <a:normAutofit/>
          </a:bodyPr>
          <a:lstStyle/>
          <a:p>
            <a:pPr>
              <a:spcBef>
                <a:spcPts val="1400"/>
              </a:spcBef>
            </a:pPr>
            <a:r>
              <a:rPr lang="en-US" sz="2000" dirty="0"/>
              <a:t>An iterative hyperparameter training was created to loop over multiple batch sizes and trials</a:t>
            </a:r>
          </a:p>
          <a:p>
            <a:pPr>
              <a:spcBef>
                <a:spcPts val="1400"/>
              </a:spcBef>
            </a:pPr>
            <a:r>
              <a:rPr lang="en-US" sz="2000" dirty="0"/>
              <a:t>This training loop will continue to be utilized as new data is acquired and added to the dataset</a:t>
            </a:r>
          </a:p>
          <a:p>
            <a:r>
              <a:rPr lang="en-US" sz="2000" dirty="0"/>
              <a:t>https://github.com/TheNJineer/GSMLS-Analysis/blob/main/GSMLS_DNN_Training.py</a:t>
            </a:r>
          </a:p>
        </p:txBody>
      </p:sp>
      <p:sp>
        <p:nvSpPr>
          <p:cNvPr id="22" name="Rectangle 21">
            <a:extLst>
              <a:ext uri="{FF2B5EF4-FFF2-40B4-BE49-F238E27FC236}">
                <a16:creationId xmlns:a16="http://schemas.microsoft.com/office/drawing/2014/main" id="{2301F82C-4268-9B0D-B0BE-8A37A2882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03458F8-7B7B-4FAF-5CFA-912C09A0FA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607E39B-49F8-D80B-31D5-05694CF4DF5B}"/>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prstClr val="black">
                    <a:tint val="75000"/>
                  </a:prstClr>
                </a:solidFill>
                <a:latin typeface="Calibri" panose="020F0502020204030204"/>
              </a:rPr>
              <a:pPr>
                <a:spcAft>
                  <a:spcPts val="600"/>
                </a:spcAft>
                <a:defRPr/>
              </a:pPr>
              <a:t>17</a:t>
            </a:fld>
            <a:endParaRPr lang="en-US" sz="1200">
              <a:solidFill>
                <a:prstClr val="black">
                  <a:tint val="75000"/>
                </a:prstClr>
              </a:solidFill>
              <a:latin typeface="Calibri" panose="020F0502020204030204"/>
            </a:endParaRPr>
          </a:p>
        </p:txBody>
      </p:sp>
      <p:pic>
        <p:nvPicPr>
          <p:cNvPr id="6" name="Picture 5">
            <a:extLst>
              <a:ext uri="{FF2B5EF4-FFF2-40B4-BE49-F238E27FC236}">
                <a16:creationId xmlns:a16="http://schemas.microsoft.com/office/drawing/2014/main" id="{478966E9-AAEC-97C3-4AF7-0E8FE1A17B0A}"/>
              </a:ext>
            </a:extLst>
          </p:cNvPr>
          <p:cNvPicPr>
            <a:picLocks noChangeAspect="1"/>
          </p:cNvPicPr>
          <p:nvPr/>
        </p:nvPicPr>
        <p:blipFill>
          <a:blip r:embed="rId2"/>
          <a:stretch>
            <a:fillRect/>
          </a:stretch>
        </p:blipFill>
        <p:spPr>
          <a:xfrm>
            <a:off x="6095999" y="337388"/>
            <a:ext cx="5439534" cy="6182588"/>
          </a:xfrm>
          <a:prstGeom prst="rect">
            <a:avLst/>
          </a:prstGeom>
        </p:spPr>
      </p:pic>
    </p:spTree>
    <p:extLst>
      <p:ext uri="{BB962C8B-B14F-4D97-AF65-F5344CB8AC3E}">
        <p14:creationId xmlns:p14="http://schemas.microsoft.com/office/powerpoint/2010/main" val="295595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44AA95-89F4-6A9D-66E9-FAEB44E05F7E}"/>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F4EE3A1-2AFB-14A2-76E6-92EBD70EAB8B}"/>
              </a:ext>
            </a:extLst>
          </p:cNvPr>
          <p:cNvSpPr txBox="1">
            <a:spLocks/>
          </p:cNvSpPr>
          <p:nvPr/>
        </p:nvSpPr>
        <p:spPr>
          <a:xfrm>
            <a:off x="589560" y="856180"/>
            <a:ext cx="5279408" cy="11280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a:solidFill>
                  <a:schemeClr val="tx1"/>
                </a:solidFill>
                <a:latin typeface="+mj-lt"/>
                <a:ea typeface="+mj-ea"/>
                <a:cs typeface="+mj-cs"/>
              </a:rPr>
              <a:t>Predictive Analysis: Model Training (cont’d)</a:t>
            </a:r>
          </a:p>
        </p:txBody>
      </p:sp>
      <p:grpSp>
        <p:nvGrpSpPr>
          <p:cNvPr id="27"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8" name="Rectangle 2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32D9E4C-869D-A690-1D93-45AA891FF3CD}"/>
              </a:ext>
            </a:extLst>
          </p:cNvPr>
          <p:cNvSpPr>
            <a:spLocks noGrp="1"/>
          </p:cNvSpPr>
          <p:nvPr>
            <p:ph idx="4294967295"/>
          </p:nvPr>
        </p:nvSpPr>
        <p:spPr>
          <a:xfrm>
            <a:off x="590719" y="2330505"/>
            <a:ext cx="5278066" cy="3979585"/>
          </a:xfrm>
          <a:prstGeom prst="rect">
            <a:avLst/>
          </a:prstGeom>
        </p:spPr>
        <p:txBody>
          <a:bodyPr vert="horz" lIns="91440" tIns="45720" rIns="91440" bIns="45720" rtlCol="0" anchor="ctr">
            <a:normAutofit lnSpcReduction="10000"/>
          </a:bodyPr>
          <a:lstStyle/>
          <a:p>
            <a:pPr>
              <a:spcBef>
                <a:spcPts val="1400"/>
              </a:spcBef>
            </a:pPr>
            <a:r>
              <a:rPr lang="en-US" sz="2000" dirty="0"/>
              <a:t>Created a custom evaluation metric for the regression model</a:t>
            </a:r>
          </a:p>
          <a:p>
            <a:pPr lvl="1">
              <a:spcBef>
                <a:spcPts val="1400"/>
              </a:spcBef>
            </a:pPr>
            <a:r>
              <a:rPr lang="en-US" sz="1600" dirty="0"/>
              <a:t>Because the data contained homes that were both sold and expired on market, the expired homes had sales prices of $0. This negatively skewed the target data range and therefore the mean squared error metric</a:t>
            </a:r>
          </a:p>
          <a:p>
            <a:pPr lvl="1">
              <a:spcBef>
                <a:spcPts val="1400"/>
              </a:spcBef>
            </a:pPr>
            <a:r>
              <a:rPr lang="en-US" sz="1600" dirty="0"/>
              <a:t>The custom evaluator filtered out the expired homes and only focused on the ones which sold</a:t>
            </a:r>
          </a:p>
          <a:p>
            <a:r>
              <a:rPr lang="en-US" sz="2000" dirty="0"/>
              <a:t>Created functions which dynamically built the neural network architecture to speed up the training process</a:t>
            </a:r>
          </a:p>
          <a:p>
            <a:r>
              <a:rPr lang="en-US" sz="2000" dirty="0"/>
              <a:t>https://github.com/TheNJineer/GSMLS-Analysis/blob/main/GSMLS_DNN_Training.py</a:t>
            </a:r>
          </a:p>
          <a:p>
            <a:endParaRPr lang="en-US" sz="2000" dirty="0"/>
          </a:p>
        </p:txBody>
      </p:sp>
      <p:sp>
        <p:nvSpPr>
          <p:cNvPr id="33"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ical user interface, text, application&#10;&#10;AI-generated content may be incorrect.">
            <a:extLst>
              <a:ext uri="{FF2B5EF4-FFF2-40B4-BE49-F238E27FC236}">
                <a16:creationId xmlns:a16="http://schemas.microsoft.com/office/drawing/2014/main" id="{6A60CB11-C54C-35F3-649B-B2244AFFDCE6}"/>
              </a:ext>
            </a:extLst>
          </p:cNvPr>
          <p:cNvPicPr>
            <a:picLocks noChangeAspect="1"/>
          </p:cNvPicPr>
          <p:nvPr/>
        </p:nvPicPr>
        <p:blipFill>
          <a:blip r:embed="rId2"/>
          <a:stretch>
            <a:fillRect/>
          </a:stretch>
        </p:blipFill>
        <p:spPr>
          <a:xfrm>
            <a:off x="7083423" y="846351"/>
            <a:ext cx="4397433" cy="1989838"/>
          </a:xfrm>
          <a:prstGeom prst="rect">
            <a:avLst/>
          </a:prstGeom>
        </p:spPr>
      </p:pic>
      <p:sp>
        <p:nvSpPr>
          <p:cNvPr id="37" name="Rectangle 36">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aphical user interface, text, application&#10;&#10;AI-generated content may be incorrect.">
            <a:extLst>
              <a:ext uri="{FF2B5EF4-FFF2-40B4-BE49-F238E27FC236}">
                <a16:creationId xmlns:a16="http://schemas.microsoft.com/office/drawing/2014/main" id="{0D700F95-35AC-9502-25FD-92B4B41CB028}"/>
              </a:ext>
            </a:extLst>
          </p:cNvPr>
          <p:cNvPicPr>
            <a:picLocks noChangeAspect="1"/>
          </p:cNvPicPr>
          <p:nvPr/>
        </p:nvPicPr>
        <p:blipFill>
          <a:blip r:embed="rId3"/>
          <a:stretch>
            <a:fillRect/>
          </a:stretch>
        </p:blipFill>
        <p:spPr>
          <a:xfrm>
            <a:off x="7083423" y="3840907"/>
            <a:ext cx="4395569" cy="2252729"/>
          </a:xfrm>
          <a:prstGeom prst="rect">
            <a:avLst/>
          </a:prstGeom>
        </p:spPr>
      </p:pic>
      <p:sp>
        <p:nvSpPr>
          <p:cNvPr id="4" name="Slide Number Placeholder 3">
            <a:extLst>
              <a:ext uri="{FF2B5EF4-FFF2-40B4-BE49-F238E27FC236}">
                <a16:creationId xmlns:a16="http://schemas.microsoft.com/office/drawing/2014/main" id="{CF3E7517-F54C-5AD3-47C2-8B872FCEC0F9}"/>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18</a:t>
            </a:fld>
            <a:endParaRPr lang="en-US" sz="1200">
              <a:solidFill>
                <a:schemeClr val="tx1">
                  <a:tint val="75000"/>
                </a:schemeClr>
              </a:solidFill>
              <a:latin typeface="+mn-lt"/>
            </a:endParaRPr>
          </a:p>
        </p:txBody>
      </p:sp>
    </p:spTree>
    <p:extLst>
      <p:ext uri="{BB962C8B-B14F-4D97-AF65-F5344CB8AC3E}">
        <p14:creationId xmlns:p14="http://schemas.microsoft.com/office/powerpoint/2010/main" val="1865983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erial view of a neighborhood&#10;&#10;AI-generated content may be incorrect.">
            <a:extLst>
              <a:ext uri="{FF2B5EF4-FFF2-40B4-BE49-F238E27FC236}">
                <a16:creationId xmlns:a16="http://schemas.microsoft.com/office/drawing/2014/main" id="{B3F33E59-B7CC-7099-F1F0-A96A087A2F36}"/>
              </a:ext>
            </a:extLst>
          </p:cNvPr>
          <p:cNvPicPr>
            <a:picLocks noChangeAspect="1"/>
          </p:cNvPicPr>
          <p:nvPr/>
        </p:nvPicPr>
        <p:blipFill>
          <a:blip r:embed="rId2"/>
          <a:srcRect l="14539" t="9091" r="9046"/>
          <a:stretch>
            <a:fillRect/>
          </a:stretch>
        </p:blipFill>
        <p:spPr>
          <a:xfrm>
            <a:off x="-2" y="10"/>
            <a:ext cx="8668512" cy="6857990"/>
          </a:xfrm>
          <a:prstGeom prst="rect">
            <a:avLst/>
          </a:prstGeom>
        </p:spPr>
      </p:pic>
      <p:sp>
        <p:nvSpPr>
          <p:cNvPr id="29" name="Rectangle 28">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tx1"/>
              </a:gs>
              <a:gs pos="30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618B93D-8F11-6347-95EE-BF68474E5B1F}"/>
              </a:ext>
            </a:extLst>
          </p:cNvPr>
          <p:cNvSpPr txBox="1"/>
          <p:nvPr/>
        </p:nvSpPr>
        <p:spPr>
          <a:xfrm>
            <a:off x="7848600" y="1122363"/>
            <a:ext cx="4023360" cy="3204134"/>
          </a:xfrm>
          <a:prstGeom prst="rect">
            <a:avLst/>
          </a:prstGeom>
        </p:spPr>
        <p:txBody>
          <a:bodyPr vert="horz" lIns="91440" tIns="45720" rIns="91440" bIns="45720" rtlCol="0" anchor="b">
            <a:normAutofit fontScale="92500" lnSpcReduction="20000"/>
          </a:bodyPr>
          <a:lstStyle/>
          <a:p>
            <a:pPr>
              <a:lnSpc>
                <a:spcPct val="90000"/>
              </a:lnSpc>
              <a:spcBef>
                <a:spcPct val="0"/>
              </a:spcBef>
              <a:spcAft>
                <a:spcPts val="600"/>
              </a:spcAft>
            </a:pPr>
            <a:r>
              <a:rPr lang="en-US" sz="4800" dirty="0">
                <a:solidFill>
                  <a:schemeClr val="bg1"/>
                </a:solidFill>
                <a:latin typeface="+mj-lt"/>
                <a:ea typeface="+mj-ea"/>
                <a:cs typeface="+mj-cs"/>
              </a:rPr>
              <a:t>Section 2:</a:t>
            </a:r>
          </a:p>
          <a:p>
            <a:pPr>
              <a:lnSpc>
                <a:spcPct val="90000"/>
              </a:lnSpc>
              <a:spcBef>
                <a:spcPct val="0"/>
              </a:spcBef>
              <a:spcAft>
                <a:spcPts val="600"/>
              </a:spcAft>
            </a:pPr>
            <a:r>
              <a:rPr lang="en-US" sz="4800" dirty="0">
                <a:solidFill>
                  <a:schemeClr val="bg1"/>
                </a:solidFill>
                <a:latin typeface="+mj-lt"/>
                <a:ea typeface="+mj-ea"/>
                <a:cs typeface="+mj-cs"/>
              </a:rPr>
              <a:t>Insights Drawn from EDA (SQL Queries and Data Visualization)</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270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4F4FCC5-6E7E-4FF0-BE45-680EEC392C9F}"/>
              </a:ext>
            </a:extLst>
          </p:cNvPr>
          <p:cNvSpPr txBox="1">
            <a:spLocks/>
          </p:cNvSpPr>
          <p:nvPr/>
        </p:nvSpPr>
        <p:spPr>
          <a:xfrm>
            <a:off x="762000" y="1141712"/>
            <a:ext cx="7848600" cy="117169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a:solidFill>
                  <a:schemeClr val="tx1"/>
                </a:solidFill>
                <a:latin typeface="+mj-lt"/>
                <a:ea typeface="+mj-ea"/>
                <a:cs typeface="+mj-cs"/>
              </a:rPr>
              <a:t>Median Sales Price by Year</a:t>
            </a:r>
          </a:p>
        </p:txBody>
      </p:sp>
      <p:cxnSp>
        <p:nvCxnSpPr>
          <p:cNvPr id="30" name="Straight Connector 29">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C6A35D7-CF63-BCC6-28A3-43D3D176120E}"/>
              </a:ext>
            </a:extLst>
          </p:cNvPr>
          <p:cNvPicPr>
            <a:picLocks noChangeAspect="1"/>
          </p:cNvPicPr>
          <p:nvPr/>
        </p:nvPicPr>
        <p:blipFill>
          <a:blip r:embed="rId2"/>
          <a:stretch>
            <a:fillRect/>
          </a:stretch>
        </p:blipFill>
        <p:spPr>
          <a:xfrm>
            <a:off x="6328258" y="2355069"/>
            <a:ext cx="5149258" cy="2308529"/>
          </a:xfrm>
          <a:prstGeom prst="rect">
            <a:avLst/>
          </a:prstGeom>
        </p:spPr>
      </p:pic>
      <p:cxnSp>
        <p:nvCxnSpPr>
          <p:cNvPr id="32" name="Straight Connector 31">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tint val="75000"/>
                  </a:schemeClr>
                </a:solidFill>
                <a:latin typeface="+mn-lt"/>
              </a:rPr>
              <a:pPr>
                <a:spcAft>
                  <a:spcPts val="600"/>
                </a:spcAft>
              </a:pPr>
              <a:t>20</a:t>
            </a:fld>
            <a:endParaRPr lang="en-US" sz="1200">
              <a:solidFill>
                <a:schemeClr val="tx1">
                  <a:tint val="75000"/>
                </a:schemeClr>
              </a:solidFill>
              <a:latin typeface="+mn-lt"/>
            </a:endParaRPr>
          </a:p>
        </p:txBody>
      </p:sp>
      <p:sp>
        <p:nvSpPr>
          <p:cNvPr id="12" name="TextBox 11">
            <a:extLst>
              <a:ext uri="{FF2B5EF4-FFF2-40B4-BE49-F238E27FC236}">
                <a16:creationId xmlns:a16="http://schemas.microsoft.com/office/drawing/2014/main" id="{5B16FE92-4C8D-370C-9B55-9BA65F581F8E}"/>
              </a:ext>
            </a:extLst>
          </p:cNvPr>
          <p:cNvSpPr txBox="1"/>
          <p:nvPr/>
        </p:nvSpPr>
        <p:spPr>
          <a:xfrm>
            <a:off x="1121229" y="5497286"/>
            <a:ext cx="9953516" cy="807913"/>
          </a:xfrm>
          <a:prstGeom prst="rect">
            <a:avLst/>
          </a:prstGeom>
          <a:noFill/>
        </p:spPr>
        <p:txBody>
          <a:bodyPr wrap="square" rtlCol="0">
            <a:spAutoFit/>
          </a:bodyPr>
          <a:lstStyle/>
          <a:p>
            <a:r>
              <a:rPr lang="en-US" dirty="0"/>
              <a:t>The median sales price of homes in New Jersey has steadily increased after the Great Financial Crisis</a:t>
            </a:r>
          </a:p>
          <a:p>
            <a:endParaRPr lang="en-US" dirty="0"/>
          </a:p>
          <a:p>
            <a:r>
              <a:rPr lang="en-US" sz="1050" dirty="0"/>
              <a:t>*This plot was created using filtered data trained on by machine learning algorithms, therefore certain data can be missing</a:t>
            </a:r>
          </a:p>
        </p:txBody>
      </p:sp>
      <p:pic>
        <p:nvPicPr>
          <p:cNvPr id="3" name="Picture 2">
            <a:extLst>
              <a:ext uri="{FF2B5EF4-FFF2-40B4-BE49-F238E27FC236}">
                <a16:creationId xmlns:a16="http://schemas.microsoft.com/office/drawing/2014/main" id="{C124A843-C6C0-A3DF-A368-0E32F199A10A}"/>
              </a:ext>
            </a:extLst>
          </p:cNvPr>
          <p:cNvPicPr>
            <a:picLocks noChangeAspect="1"/>
          </p:cNvPicPr>
          <p:nvPr/>
        </p:nvPicPr>
        <p:blipFill>
          <a:blip r:embed="rId3"/>
          <a:stretch>
            <a:fillRect/>
          </a:stretch>
        </p:blipFill>
        <p:spPr>
          <a:xfrm>
            <a:off x="262100" y="2355069"/>
            <a:ext cx="5881102" cy="2228911"/>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438913" y="859536"/>
            <a:ext cx="4832802" cy="1243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400">
                <a:solidFill>
                  <a:schemeClr val="tx1"/>
                </a:solidFill>
                <a:latin typeface="+mj-lt"/>
                <a:ea typeface="+mj-ea"/>
                <a:cs typeface="+mj-cs"/>
              </a:rPr>
              <a:t>Most/Least Transactions Collected by County</a:t>
            </a:r>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438912" y="2512611"/>
            <a:ext cx="4832803" cy="3664351"/>
          </a:xfrm>
          <a:prstGeom prst="rect">
            <a:avLst/>
          </a:prstGeom>
        </p:spPr>
        <p:txBody>
          <a:bodyPr vert="horz" lIns="91440" tIns="45720" rIns="91440" bIns="45720" rtlCol="0">
            <a:normAutofit/>
          </a:bodyPr>
          <a:lstStyle/>
          <a:p>
            <a:pPr>
              <a:spcBef>
                <a:spcPts val="1400"/>
              </a:spcBef>
            </a:pPr>
            <a:r>
              <a:rPr lang="en-US" sz="1800" dirty="0"/>
              <a:t>Before commencing this project, it was understood that this MLS service covered a large area of NJ but some counties reported to separate/regional MLS</a:t>
            </a:r>
          </a:p>
          <a:p>
            <a:pPr>
              <a:spcBef>
                <a:spcPts val="1400"/>
              </a:spcBef>
            </a:pPr>
            <a:r>
              <a:rPr lang="en-US" sz="1800" dirty="0"/>
              <a:t>The bar chart shows that since data was first collected, most of the data received are from counties located in Northern and Central New Jersey</a:t>
            </a:r>
          </a:p>
          <a:p>
            <a:pPr>
              <a:spcBef>
                <a:spcPts val="1400"/>
              </a:spcBef>
            </a:pPr>
            <a:r>
              <a:rPr lang="en-US" sz="1800" dirty="0"/>
              <a:t>Morris, Essex and Union counties have reported the most residential real estate transactions respectively since 1996</a:t>
            </a:r>
          </a:p>
        </p:txBody>
      </p:sp>
      <p:pic>
        <p:nvPicPr>
          <p:cNvPr id="6" name="Picture 5">
            <a:extLst>
              <a:ext uri="{FF2B5EF4-FFF2-40B4-BE49-F238E27FC236}">
                <a16:creationId xmlns:a16="http://schemas.microsoft.com/office/drawing/2014/main" id="{16A14D19-A549-E0E9-4C87-3008D6CFBC9E}"/>
              </a:ext>
            </a:extLst>
          </p:cNvPr>
          <p:cNvPicPr>
            <a:picLocks noChangeAspect="1"/>
          </p:cNvPicPr>
          <p:nvPr/>
        </p:nvPicPr>
        <p:blipFill>
          <a:blip r:embed="rId2"/>
          <a:stretch>
            <a:fillRect/>
          </a:stretch>
        </p:blipFill>
        <p:spPr>
          <a:xfrm>
            <a:off x="6972969" y="517600"/>
            <a:ext cx="4424516" cy="2743200"/>
          </a:xfrm>
          <a:prstGeom prst="rect">
            <a:avLst/>
          </a:prstGeom>
        </p:spPr>
      </p:pic>
      <p:pic>
        <p:nvPicPr>
          <p:cNvPr id="8" name="Picture 7">
            <a:extLst>
              <a:ext uri="{FF2B5EF4-FFF2-40B4-BE49-F238E27FC236}">
                <a16:creationId xmlns:a16="http://schemas.microsoft.com/office/drawing/2014/main" id="{24273669-ABAE-6553-EA89-2C0CCC86439E}"/>
              </a:ext>
            </a:extLst>
          </p:cNvPr>
          <p:cNvPicPr>
            <a:picLocks noChangeAspect="1"/>
          </p:cNvPicPr>
          <p:nvPr/>
        </p:nvPicPr>
        <p:blipFill>
          <a:blip r:embed="rId3"/>
          <a:stretch>
            <a:fillRect/>
          </a:stretch>
        </p:blipFill>
        <p:spPr>
          <a:xfrm>
            <a:off x="6187475" y="3747778"/>
            <a:ext cx="5924841" cy="2429184"/>
          </a:xfrm>
          <a:prstGeom prst="rect">
            <a:avLst/>
          </a:prstGeom>
        </p:spPr>
      </p:pic>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10326623" y="6356350"/>
            <a:ext cx="1426464"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21</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3869789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DD2125-B2E4-19FA-C752-18959D3CF420}"/>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2E8DDFA-3097-569E-7BAC-83E065C25789}"/>
              </a:ext>
            </a:extLst>
          </p:cNvPr>
          <p:cNvSpPr txBox="1">
            <a:spLocks/>
          </p:cNvSpPr>
          <p:nvPr/>
        </p:nvSpPr>
        <p:spPr>
          <a:xfrm>
            <a:off x="532015" y="4495568"/>
            <a:ext cx="3861960" cy="19052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a:solidFill>
                  <a:schemeClr val="tx1"/>
                </a:solidFill>
                <a:latin typeface="+mj-lt"/>
                <a:ea typeface="+mj-ea"/>
                <a:cs typeface="+mj-cs"/>
              </a:rPr>
              <a:t>Median Sales Price by Year By County</a:t>
            </a:r>
          </a:p>
        </p:txBody>
      </p:sp>
      <p:sp>
        <p:nvSpPr>
          <p:cNvPr id="49" name="Rectangle 48">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32A92F81-F3D2-1564-DA1D-CF7CB7751606}"/>
              </a:ext>
            </a:extLst>
          </p:cNvPr>
          <p:cNvGrpSpPr/>
          <p:nvPr/>
        </p:nvGrpSpPr>
        <p:grpSpPr>
          <a:xfrm>
            <a:off x="838200" y="1069277"/>
            <a:ext cx="10595859" cy="2686293"/>
            <a:chOff x="838200" y="1069278"/>
            <a:chExt cx="10595859" cy="2016192"/>
          </a:xfrm>
        </p:grpSpPr>
        <p:pic>
          <p:nvPicPr>
            <p:cNvPr id="3" name="Picture 2" descr="Text, email&#10;&#10;AI-generated content may be incorrect.">
              <a:extLst>
                <a:ext uri="{FF2B5EF4-FFF2-40B4-BE49-F238E27FC236}">
                  <a16:creationId xmlns:a16="http://schemas.microsoft.com/office/drawing/2014/main" id="{25EE5B3A-BE68-1B35-3050-77798B2D6055}"/>
                </a:ext>
              </a:extLst>
            </p:cNvPr>
            <p:cNvPicPr>
              <a:picLocks noChangeAspect="1"/>
            </p:cNvPicPr>
            <p:nvPr/>
          </p:nvPicPr>
          <p:blipFill>
            <a:blip r:embed="rId2"/>
            <a:stretch>
              <a:fillRect/>
            </a:stretch>
          </p:blipFill>
          <p:spPr>
            <a:xfrm>
              <a:off x="838200" y="1069278"/>
              <a:ext cx="5136795" cy="2016192"/>
            </a:xfrm>
            <a:prstGeom prst="rect">
              <a:avLst/>
            </a:prstGeom>
          </p:spPr>
        </p:pic>
        <p:pic>
          <p:nvPicPr>
            <p:cNvPr id="15" name="Picture 14" descr="Chart, line chart, histogram&#10;&#10;AI-generated content may be incorrect.">
              <a:extLst>
                <a:ext uri="{FF2B5EF4-FFF2-40B4-BE49-F238E27FC236}">
                  <a16:creationId xmlns:a16="http://schemas.microsoft.com/office/drawing/2014/main" id="{ED3596B6-0F59-BF39-EBFB-893CBD3F33B7}"/>
                </a:ext>
              </a:extLst>
            </p:cNvPr>
            <p:cNvPicPr>
              <a:picLocks noChangeAspect="1"/>
            </p:cNvPicPr>
            <p:nvPr/>
          </p:nvPicPr>
          <p:blipFill>
            <a:blip r:embed="rId3"/>
            <a:stretch>
              <a:fillRect/>
            </a:stretch>
          </p:blipFill>
          <p:spPr>
            <a:xfrm>
              <a:off x="6297264" y="1120645"/>
              <a:ext cx="5136795" cy="1913455"/>
            </a:xfrm>
            <a:prstGeom prst="rect">
              <a:avLst/>
            </a:prstGeom>
          </p:spPr>
        </p:pic>
      </p:grpSp>
      <p:sp>
        <p:nvSpPr>
          <p:cNvPr id="53" name="Rectangle 52">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A4F66D4-EE37-72F3-0251-BBE28CE877D8}"/>
              </a:ext>
            </a:extLst>
          </p:cNvPr>
          <p:cNvSpPr txBox="1"/>
          <p:nvPr/>
        </p:nvSpPr>
        <p:spPr>
          <a:xfrm>
            <a:off x="5162719" y="4495568"/>
            <a:ext cx="6586915" cy="190523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500" dirty="0"/>
              <a:t>Of the counties with sufficiently reported data in this MLS, the Top 3 counties with the highest median sales price are Essex, Morris and Union, respectively. Somerset County seems to be the only county to have decreased YoY in 2025. However, this will be revisited once we have a full year of sales data</a:t>
            </a:r>
          </a:p>
          <a:p>
            <a:pPr indent="-228600">
              <a:lnSpc>
                <a:spcPct val="90000"/>
              </a:lnSpc>
              <a:spcAft>
                <a:spcPts val="600"/>
              </a:spcAft>
              <a:buFont typeface="Arial" panose="020B0604020202020204" pitchFamily="34" charset="0"/>
              <a:buChar char="•"/>
            </a:pPr>
            <a:endParaRPr lang="en-US" sz="1500" dirty="0"/>
          </a:p>
          <a:p>
            <a:pPr>
              <a:lnSpc>
                <a:spcPct val="90000"/>
              </a:lnSpc>
              <a:spcAft>
                <a:spcPts val="600"/>
              </a:spcAft>
            </a:pPr>
            <a:r>
              <a:rPr lang="en-US" sz="1100" dirty="0"/>
              <a:t>*This plot was created using filtered data trained on by machine learning algorithms, therefore certain data can be missing</a:t>
            </a:r>
          </a:p>
        </p:txBody>
      </p:sp>
      <p:sp>
        <p:nvSpPr>
          <p:cNvPr id="5" name="Slide Number Placeholder 4">
            <a:extLst>
              <a:ext uri="{FF2B5EF4-FFF2-40B4-BE49-F238E27FC236}">
                <a16:creationId xmlns:a16="http://schemas.microsoft.com/office/drawing/2014/main" id="{07F6098A-6E16-168A-D266-DB5C352F6BA4}"/>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tint val="75000"/>
                  </a:schemeClr>
                </a:solidFill>
                <a:latin typeface="+mn-lt"/>
              </a:rPr>
              <a:pPr>
                <a:spcAft>
                  <a:spcPts val="600"/>
                </a:spcAft>
              </a:pPr>
              <a:t>22</a:t>
            </a:fld>
            <a:endParaRPr lang="en-US" sz="1200">
              <a:solidFill>
                <a:schemeClr val="tx1">
                  <a:tint val="75000"/>
                </a:schemeClr>
              </a:solidFill>
              <a:latin typeface="+mn-lt"/>
            </a:endParaRPr>
          </a:p>
        </p:txBody>
      </p:sp>
    </p:spTree>
    <p:extLst>
      <p:ext uri="{BB962C8B-B14F-4D97-AF65-F5344CB8AC3E}">
        <p14:creationId xmlns:p14="http://schemas.microsoft.com/office/powerpoint/2010/main" val="651539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1051560" y="586822"/>
            <a:ext cx="3657600"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a:solidFill>
                  <a:schemeClr val="tx1"/>
                </a:solidFill>
                <a:latin typeface="+mj-lt"/>
                <a:ea typeface="+mj-ea"/>
                <a:cs typeface="+mj-cs"/>
              </a:rPr>
              <a:t>Median Days on the Market by Year</a:t>
            </a:r>
          </a:p>
        </p:txBody>
      </p:sp>
      <p:sp>
        <p:nvSpPr>
          <p:cNvPr id="28" name="Rectangle 27">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0" name="Rectangle 2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5250106" y="586822"/>
            <a:ext cx="6106742" cy="1645920"/>
          </a:xfrm>
          <a:prstGeom prst="rect">
            <a:avLst/>
          </a:prstGeom>
        </p:spPr>
        <p:txBody>
          <a:bodyPr vert="horz" lIns="91440" tIns="45720" rIns="91440" bIns="45720" rtlCol="0" anchor="ctr">
            <a:normAutofit/>
          </a:bodyPr>
          <a:lstStyle/>
          <a:p>
            <a:pPr>
              <a:spcBef>
                <a:spcPts val="1400"/>
              </a:spcBef>
            </a:pPr>
            <a:r>
              <a:rPr lang="en-US" sz="1300"/>
              <a:t>Properties in New Jersey spent the most time on the market during the Great Financial Crisis with the peak median Days on Market (DOM) occurring in 2008 and 2010</a:t>
            </a:r>
          </a:p>
          <a:p>
            <a:pPr>
              <a:spcBef>
                <a:spcPts val="1400"/>
              </a:spcBef>
            </a:pPr>
            <a:r>
              <a:rPr lang="en-US" sz="1300"/>
              <a:t>Since 2011, a property’s time on market before being sold has steadily decreased</a:t>
            </a:r>
          </a:p>
          <a:p>
            <a:pPr>
              <a:spcBef>
                <a:spcPts val="1400"/>
              </a:spcBef>
            </a:pPr>
            <a:r>
              <a:rPr lang="en-US" sz="1300"/>
              <a:t>After COVID in 2020, the median DOM for properties sold in NJ has not gone above 30 days</a:t>
            </a:r>
          </a:p>
        </p:txBody>
      </p:sp>
      <p:grpSp>
        <p:nvGrpSpPr>
          <p:cNvPr id="18" name="Group 17">
            <a:extLst>
              <a:ext uri="{FF2B5EF4-FFF2-40B4-BE49-F238E27FC236}">
                <a16:creationId xmlns:a16="http://schemas.microsoft.com/office/drawing/2014/main" id="{53359579-AF45-F26C-8DC8-63840E32EF07}"/>
              </a:ext>
            </a:extLst>
          </p:cNvPr>
          <p:cNvGrpSpPr/>
          <p:nvPr/>
        </p:nvGrpSpPr>
        <p:grpSpPr>
          <a:xfrm>
            <a:off x="557783" y="2973471"/>
            <a:ext cx="11164080" cy="2825267"/>
            <a:chOff x="557783" y="3354471"/>
            <a:chExt cx="11164080" cy="2233715"/>
          </a:xfrm>
        </p:grpSpPr>
        <p:pic>
          <p:nvPicPr>
            <p:cNvPr id="16" name="Picture 15" descr="Graphical user interface, application&#10;&#10;AI-generated content may be incorrect.">
              <a:extLst>
                <a:ext uri="{FF2B5EF4-FFF2-40B4-BE49-F238E27FC236}">
                  <a16:creationId xmlns:a16="http://schemas.microsoft.com/office/drawing/2014/main" id="{5BE7B5A0-6C45-D8B1-09DB-F1537E5424B3}"/>
                </a:ext>
              </a:extLst>
            </p:cNvPr>
            <p:cNvPicPr>
              <a:picLocks noChangeAspect="1"/>
            </p:cNvPicPr>
            <p:nvPr/>
          </p:nvPicPr>
          <p:blipFill>
            <a:blip r:embed="rId2"/>
            <a:stretch>
              <a:fillRect/>
            </a:stretch>
          </p:blipFill>
          <p:spPr>
            <a:xfrm>
              <a:off x="557783" y="3354471"/>
              <a:ext cx="5481509" cy="2233715"/>
            </a:xfrm>
            <a:prstGeom prst="rect">
              <a:avLst/>
            </a:prstGeom>
          </p:spPr>
        </p:pic>
        <p:pic>
          <p:nvPicPr>
            <p:cNvPr id="12" name="Picture 11" descr="Chart, line chart&#10;&#10;AI-generated content may be incorrect.">
              <a:extLst>
                <a:ext uri="{FF2B5EF4-FFF2-40B4-BE49-F238E27FC236}">
                  <a16:creationId xmlns:a16="http://schemas.microsoft.com/office/drawing/2014/main" id="{5746171B-824C-E6E5-2854-64EC5B614BF3}"/>
                </a:ext>
              </a:extLst>
            </p:cNvPr>
            <p:cNvPicPr>
              <a:picLocks noChangeAspect="1"/>
            </p:cNvPicPr>
            <p:nvPr/>
          </p:nvPicPr>
          <p:blipFill>
            <a:blip r:embed="rId3"/>
            <a:stretch>
              <a:fillRect/>
            </a:stretch>
          </p:blipFill>
          <p:spPr>
            <a:xfrm>
              <a:off x="6198781" y="3401232"/>
              <a:ext cx="5523082" cy="2140194"/>
            </a:xfrm>
            <a:prstGeom prst="rect">
              <a:avLst/>
            </a:prstGeom>
          </p:spPr>
        </p:pic>
      </p:gr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23</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80090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1051560" y="586822"/>
            <a:ext cx="3657600"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a:solidFill>
                  <a:schemeClr val="tx1"/>
                </a:solidFill>
                <a:latin typeface="+mj-lt"/>
                <a:ea typeface="+mj-ea"/>
                <a:cs typeface="+mj-cs"/>
              </a:rPr>
              <a:t>Days on the Market Distribution (Great Financial Crisis)</a:t>
            </a:r>
          </a:p>
        </p:txBody>
      </p:sp>
      <p:sp>
        <p:nvSpPr>
          <p:cNvPr id="17" name="Rectangle 1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5250106" y="586822"/>
            <a:ext cx="6106742" cy="1645920"/>
          </a:xfrm>
          <a:prstGeom prst="rect">
            <a:avLst/>
          </a:prstGeom>
        </p:spPr>
        <p:txBody>
          <a:bodyPr vert="horz" lIns="91440" tIns="45720" rIns="91440" bIns="45720" rtlCol="0" anchor="ctr">
            <a:normAutofit fontScale="92500" lnSpcReduction="20000"/>
          </a:bodyPr>
          <a:lstStyle/>
          <a:p>
            <a:pPr>
              <a:spcBef>
                <a:spcPts val="1400"/>
              </a:spcBef>
            </a:pPr>
            <a:r>
              <a:rPr lang="en-US" sz="1800" dirty="0"/>
              <a:t>Continuing to focus on the period of the Great Financial Crisis, the graph below shows the distribution of DOM for properties sold or expiring</a:t>
            </a:r>
          </a:p>
          <a:p>
            <a:pPr>
              <a:spcBef>
                <a:spcPts val="1400"/>
              </a:spcBef>
            </a:pPr>
            <a:r>
              <a:rPr lang="en-US" sz="1800" dirty="0"/>
              <a:t>The data is right skewed with some properties spending a year or more on the market before being sold or expiring</a:t>
            </a:r>
          </a:p>
          <a:p>
            <a:pPr>
              <a:spcBef>
                <a:spcPts val="1400"/>
              </a:spcBef>
            </a:pPr>
            <a:r>
              <a:rPr lang="en-US" sz="1800" dirty="0"/>
              <a:t>The most frequent occurrence was around 200 days</a:t>
            </a:r>
          </a:p>
        </p:txBody>
      </p:sp>
      <p:grpSp>
        <p:nvGrpSpPr>
          <p:cNvPr id="9" name="Group 8">
            <a:extLst>
              <a:ext uri="{FF2B5EF4-FFF2-40B4-BE49-F238E27FC236}">
                <a16:creationId xmlns:a16="http://schemas.microsoft.com/office/drawing/2014/main" id="{0FDEB376-27E7-AB47-89DD-99CC4CF9E764}"/>
              </a:ext>
            </a:extLst>
          </p:cNvPr>
          <p:cNvGrpSpPr/>
          <p:nvPr/>
        </p:nvGrpSpPr>
        <p:grpSpPr>
          <a:xfrm>
            <a:off x="557783" y="3128359"/>
            <a:ext cx="11164080" cy="3227991"/>
            <a:chOff x="557783" y="3128359"/>
            <a:chExt cx="11164080" cy="2685939"/>
          </a:xfrm>
        </p:grpSpPr>
        <p:pic>
          <p:nvPicPr>
            <p:cNvPr id="6" name="Picture 5">
              <a:extLst>
                <a:ext uri="{FF2B5EF4-FFF2-40B4-BE49-F238E27FC236}">
                  <a16:creationId xmlns:a16="http://schemas.microsoft.com/office/drawing/2014/main" id="{221E2F6D-9446-5149-18EB-F82FE81A07E6}"/>
                </a:ext>
              </a:extLst>
            </p:cNvPr>
            <p:cNvPicPr>
              <a:picLocks noChangeAspect="1"/>
            </p:cNvPicPr>
            <p:nvPr/>
          </p:nvPicPr>
          <p:blipFill>
            <a:blip r:embed="rId2"/>
            <a:stretch>
              <a:fillRect/>
            </a:stretch>
          </p:blipFill>
          <p:spPr>
            <a:xfrm>
              <a:off x="557783" y="3128359"/>
              <a:ext cx="5481509" cy="2685939"/>
            </a:xfrm>
            <a:prstGeom prst="rect">
              <a:avLst/>
            </a:prstGeom>
          </p:spPr>
        </p:pic>
        <p:pic>
          <p:nvPicPr>
            <p:cNvPr id="8" name="Picture 7">
              <a:extLst>
                <a:ext uri="{FF2B5EF4-FFF2-40B4-BE49-F238E27FC236}">
                  <a16:creationId xmlns:a16="http://schemas.microsoft.com/office/drawing/2014/main" id="{AB4DB124-5001-504B-A2AA-663EA29D9054}"/>
                </a:ext>
              </a:extLst>
            </p:cNvPr>
            <p:cNvPicPr>
              <a:picLocks noChangeAspect="1"/>
            </p:cNvPicPr>
            <p:nvPr/>
          </p:nvPicPr>
          <p:blipFill>
            <a:blip r:embed="rId3"/>
            <a:stretch>
              <a:fillRect/>
            </a:stretch>
          </p:blipFill>
          <p:spPr>
            <a:xfrm>
              <a:off x="6198781" y="3470270"/>
              <a:ext cx="5523082" cy="2002117"/>
            </a:xfrm>
            <a:prstGeom prst="rect">
              <a:avLst/>
            </a:prstGeom>
          </p:spPr>
        </p:pic>
      </p:gr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24</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1106727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 name="Freeform: Shape 38">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371094" y="1161288"/>
            <a:ext cx="3438144" cy="11247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800" kern="1200">
                <a:solidFill>
                  <a:schemeClr val="tx1"/>
                </a:solidFill>
                <a:latin typeface="+mj-lt"/>
                <a:ea typeface="+mj-ea"/>
                <a:cs typeface="+mj-cs"/>
              </a:rPr>
              <a:t>Investment Properties Sold By Year</a:t>
            </a:r>
          </a:p>
        </p:txBody>
      </p:sp>
      <p:sp>
        <p:nvSpPr>
          <p:cNvPr id="41" name="Rectangle 4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9692640" y="6356350"/>
            <a:ext cx="2124456"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25</a:t>
            </a:fld>
            <a:endParaRPr lang="en-US" sz="1200">
              <a:solidFill>
                <a:schemeClr val="tx1">
                  <a:lumMod val="50000"/>
                  <a:lumOff val="50000"/>
                </a:schemeClr>
              </a:solidFill>
              <a:latin typeface="+mn-lt"/>
            </a:endParaRPr>
          </a:p>
        </p:txBody>
      </p:sp>
      <p:pic>
        <p:nvPicPr>
          <p:cNvPr id="10" name="Picture 9" descr="Graphical user interface, text, application&#10;&#10;AI-generated content may be incorrect.">
            <a:extLst>
              <a:ext uri="{FF2B5EF4-FFF2-40B4-BE49-F238E27FC236}">
                <a16:creationId xmlns:a16="http://schemas.microsoft.com/office/drawing/2014/main" id="{529A8D51-C935-376B-290D-D7A10D427458}"/>
              </a:ext>
            </a:extLst>
          </p:cNvPr>
          <p:cNvPicPr>
            <a:picLocks noChangeAspect="1"/>
          </p:cNvPicPr>
          <p:nvPr/>
        </p:nvPicPr>
        <p:blipFill>
          <a:blip r:embed="rId2"/>
          <a:stretch>
            <a:fillRect/>
          </a:stretch>
        </p:blipFill>
        <p:spPr>
          <a:xfrm>
            <a:off x="5530338" y="540852"/>
            <a:ext cx="4946414" cy="2888148"/>
          </a:xfrm>
          <a:prstGeom prst="rect">
            <a:avLst/>
          </a:prstGeom>
        </p:spPr>
      </p:pic>
      <p:pic>
        <p:nvPicPr>
          <p:cNvPr id="12" name="Picture 11" descr="Chart, line chart&#10;&#10;AI-generated content may be incorrect.">
            <a:extLst>
              <a:ext uri="{FF2B5EF4-FFF2-40B4-BE49-F238E27FC236}">
                <a16:creationId xmlns:a16="http://schemas.microsoft.com/office/drawing/2014/main" id="{3C289A8B-80D1-994C-665E-53362896AA1E}"/>
              </a:ext>
            </a:extLst>
          </p:cNvPr>
          <p:cNvPicPr>
            <a:picLocks noChangeAspect="1"/>
          </p:cNvPicPr>
          <p:nvPr/>
        </p:nvPicPr>
        <p:blipFill>
          <a:blip r:embed="rId3"/>
          <a:stretch>
            <a:fillRect/>
          </a:stretch>
        </p:blipFill>
        <p:spPr>
          <a:xfrm>
            <a:off x="4578607" y="3483620"/>
            <a:ext cx="6590136" cy="3046250"/>
          </a:xfrm>
          <a:prstGeom prst="rect">
            <a:avLst/>
          </a:prstGeom>
        </p:spPr>
      </p:pic>
      <p:sp>
        <p:nvSpPr>
          <p:cNvPr id="16" name="Content Placeholder 2">
            <a:extLst>
              <a:ext uri="{FF2B5EF4-FFF2-40B4-BE49-F238E27FC236}">
                <a16:creationId xmlns:a16="http://schemas.microsoft.com/office/drawing/2014/main" id="{812BB747-367D-96DF-0F5B-ADD7E4948D40}"/>
              </a:ext>
            </a:extLst>
          </p:cNvPr>
          <p:cNvSpPr txBox="1">
            <a:spLocks/>
          </p:cNvSpPr>
          <p:nvPr/>
        </p:nvSpPr>
        <p:spPr>
          <a:xfrm>
            <a:off x="122935" y="3612057"/>
            <a:ext cx="3438144" cy="164592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400"/>
              </a:spcBef>
            </a:pPr>
            <a:r>
              <a:rPr lang="en-US" sz="1200" dirty="0"/>
              <a:t>As a real estate agent and an investor, I’m extremely interested in the amount of investing going on in the state</a:t>
            </a:r>
          </a:p>
          <a:p>
            <a:pPr>
              <a:spcBef>
                <a:spcPts val="1400"/>
              </a:spcBef>
            </a:pPr>
            <a:r>
              <a:rPr lang="en-US" sz="1200" dirty="0"/>
              <a:t>The graph below show properties sold by a company for each year starting in 1996</a:t>
            </a:r>
          </a:p>
          <a:p>
            <a:pPr>
              <a:spcBef>
                <a:spcPts val="1400"/>
              </a:spcBef>
            </a:pPr>
            <a:r>
              <a:rPr lang="en-US" sz="1200" dirty="0"/>
              <a:t>Based on the data in this MLS, I’m unable to capture the name of the person/entity who purchases the property; only who sells it.</a:t>
            </a:r>
          </a:p>
          <a:p>
            <a:pPr>
              <a:spcBef>
                <a:spcPts val="1400"/>
              </a:spcBef>
            </a:pPr>
            <a:r>
              <a:rPr lang="en-US" sz="1200" dirty="0"/>
              <a:t>The entity was determined using Regex to match a pattern like LLC, Corporation, Management, </a:t>
            </a:r>
            <a:r>
              <a:rPr lang="en-US" sz="1200" dirty="0" err="1"/>
              <a:t>etc</a:t>
            </a:r>
            <a:endParaRPr lang="en-US" sz="1200" dirty="0"/>
          </a:p>
          <a:p>
            <a:pPr>
              <a:spcBef>
                <a:spcPts val="1400"/>
              </a:spcBef>
            </a:pPr>
            <a:r>
              <a:rPr lang="en-US" sz="1200" dirty="0"/>
              <a:t>Investment sales peaked in 2019 with almost 2500 homes being sold by corporations, but has since declines</a:t>
            </a:r>
          </a:p>
          <a:p>
            <a:pPr>
              <a:spcBef>
                <a:spcPts val="1400"/>
              </a:spcBef>
            </a:pPr>
            <a:r>
              <a:rPr lang="en-US" sz="1200" dirty="0"/>
              <a:t>This peak occurs right before COVID and median sales prices exploding</a:t>
            </a:r>
          </a:p>
        </p:txBody>
      </p:sp>
    </p:spTree>
    <p:extLst>
      <p:ext uri="{BB962C8B-B14F-4D97-AF65-F5344CB8AC3E}">
        <p14:creationId xmlns:p14="http://schemas.microsoft.com/office/powerpoint/2010/main" val="70659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589560" y="856180"/>
            <a:ext cx="4560584" cy="11280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500">
                <a:solidFill>
                  <a:schemeClr val="tx1"/>
                </a:solidFill>
                <a:latin typeface="+mj-lt"/>
                <a:ea typeface="+mj-ea"/>
                <a:cs typeface="+mj-cs"/>
              </a:rPr>
              <a:t>Top Ten Municipalities for Investing in 2024 (Based on Investment Sales)</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38EB92F-777A-CC0F-B93A-6BA318CF3115}"/>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dirty="0"/>
              <a:t>The data shown here are the Top Ten Municipalities for Investing in 2024 (Based on Investment Sales) </a:t>
            </a:r>
          </a:p>
          <a:p>
            <a:pPr marL="285750" indent="-228600">
              <a:lnSpc>
                <a:spcPct val="90000"/>
              </a:lnSpc>
              <a:spcAft>
                <a:spcPts val="600"/>
              </a:spcAft>
              <a:buFont typeface="Arial" panose="020B0604020202020204" pitchFamily="34" charset="0"/>
              <a:buChar char="•"/>
            </a:pPr>
            <a:r>
              <a:rPr lang="en-US" sz="2000" dirty="0"/>
              <a:t>Six of the ten municipalities have a major NJ Transit line and multiple bus routes</a:t>
            </a:r>
          </a:p>
          <a:p>
            <a:pPr marL="285750" indent="-228600">
              <a:lnSpc>
                <a:spcPct val="90000"/>
              </a:lnSpc>
              <a:spcAft>
                <a:spcPts val="600"/>
              </a:spcAft>
              <a:buFont typeface="Arial" panose="020B0604020202020204" pitchFamily="34" charset="0"/>
              <a:buChar char="•"/>
            </a:pPr>
            <a:r>
              <a:rPr lang="en-US" sz="2000" dirty="0"/>
              <a:t>Through anecdotal research, these municipalities have been shown to be major destinations for residents migrating from NYC</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5304922-259A-3EB0-EEF8-00F2D65E1257}"/>
              </a:ext>
            </a:extLst>
          </p:cNvPr>
          <p:cNvPicPr>
            <a:picLocks noChangeAspect="1"/>
          </p:cNvPicPr>
          <p:nvPr/>
        </p:nvPicPr>
        <p:blipFill>
          <a:blip r:embed="rId2"/>
          <a:srcRect r="-5" b="1435"/>
          <a:stretch>
            <a:fillRect/>
          </a:stretch>
        </p:blipFill>
        <p:spPr>
          <a:xfrm>
            <a:off x="5977788" y="799352"/>
            <a:ext cx="5425410" cy="5259296"/>
          </a:xfrm>
          <a:prstGeom prst="rect">
            <a:avLst/>
          </a:prstGeom>
        </p:spPr>
      </p:pic>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prstClr val="black">
                    <a:tint val="75000"/>
                  </a:prstClr>
                </a:solidFill>
                <a:latin typeface="Calibri" panose="020F0502020204030204"/>
              </a:rPr>
              <a:pPr>
                <a:spcAft>
                  <a:spcPts val="600"/>
                </a:spcAft>
                <a:defRPr/>
              </a:pPr>
              <a:t>26</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72785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ADDB6D-E6A5-E81B-3047-888DF55659E4}"/>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514EA51-288E-D6A8-60C4-AF264F18A432}"/>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900" kern="1200" dirty="0">
                <a:solidFill>
                  <a:schemeClr val="tx1"/>
                </a:solidFill>
                <a:latin typeface="+mj-lt"/>
                <a:ea typeface="+mj-ea"/>
                <a:cs typeface="+mj-cs"/>
              </a:rPr>
              <a:t>Top Ten Municipalities for Investing in 2024 </a:t>
            </a:r>
            <a:r>
              <a:rPr lang="en-US" sz="2900" dirty="0">
                <a:solidFill>
                  <a:schemeClr val="tx1"/>
                </a:solidFill>
                <a:latin typeface="+mj-lt"/>
                <a:ea typeface="+mj-ea"/>
                <a:cs typeface="+mj-cs"/>
              </a:rPr>
              <a:t>(cont’d)</a:t>
            </a:r>
            <a:endParaRPr lang="en-US" sz="2900" kern="1200" dirty="0">
              <a:solidFill>
                <a:schemeClr val="tx1"/>
              </a:solidFill>
              <a:latin typeface="+mj-lt"/>
              <a:ea typeface="+mj-ea"/>
              <a:cs typeface="+mj-cs"/>
            </a:endParaRPr>
          </a:p>
        </p:txBody>
      </p:sp>
      <p:sp>
        <p:nvSpPr>
          <p:cNvPr id="29" name="Rectangle 2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B11F571-4268-27FC-5503-896697B0E0DB}"/>
              </a:ext>
            </a:extLst>
          </p:cNvPr>
          <p:cNvPicPr>
            <a:picLocks noChangeAspect="1"/>
          </p:cNvPicPr>
          <p:nvPr/>
        </p:nvPicPr>
        <p:blipFill>
          <a:blip r:embed="rId2"/>
          <a:stretch>
            <a:fillRect/>
          </a:stretch>
        </p:blipFill>
        <p:spPr>
          <a:xfrm>
            <a:off x="545238" y="1686037"/>
            <a:ext cx="7608304" cy="3556882"/>
          </a:xfrm>
          <a:prstGeom prst="rect">
            <a:avLst/>
          </a:prstGeom>
        </p:spPr>
      </p:pic>
      <p:sp>
        <p:nvSpPr>
          <p:cNvPr id="33" name="Rectangle 32">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7D7CD92-1D6F-7019-8EE4-FF4EC5F62AA9}"/>
              </a:ext>
            </a:extLst>
          </p:cNvPr>
          <p:cNvSpPr>
            <a:spLocks noGrp="1"/>
          </p:cNvSpPr>
          <p:nvPr>
            <p:ph type="sldNum" sz="quarter" idx="12"/>
          </p:nvPr>
        </p:nvSpPr>
        <p:spPr>
          <a:xfrm>
            <a:off x="8610599" y="6492240"/>
            <a:ext cx="3126933"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schemeClr val="tx1">
                    <a:tint val="75000"/>
                  </a:schemeClr>
                </a:solidFill>
                <a:latin typeface="+mn-lt"/>
              </a:rPr>
              <a:pPr>
                <a:spcAft>
                  <a:spcPts val="600"/>
                </a:spcAft>
                <a:defRPr/>
              </a:pPr>
              <a:t>27</a:t>
            </a:fld>
            <a:endParaRPr lang="en-US" sz="1200">
              <a:solidFill>
                <a:schemeClr val="tx1">
                  <a:tint val="75000"/>
                </a:schemeClr>
              </a:solidFill>
              <a:latin typeface="+mn-lt"/>
            </a:endParaRPr>
          </a:p>
        </p:txBody>
      </p:sp>
    </p:spTree>
    <p:extLst>
      <p:ext uri="{BB962C8B-B14F-4D97-AF65-F5344CB8AC3E}">
        <p14:creationId xmlns:p14="http://schemas.microsoft.com/office/powerpoint/2010/main" val="4247796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FA18005-7299-686A-B2F2-986189C2276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12E251-A3EF-F935-771D-3590A0D424AE}"/>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3" name="Title 1">
            <a:extLst>
              <a:ext uri="{FF2B5EF4-FFF2-40B4-BE49-F238E27FC236}">
                <a16:creationId xmlns:a16="http://schemas.microsoft.com/office/drawing/2014/main" id="{C076C657-D165-112E-7FC8-518A6D446B4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Top Ten Municipalities for Investing by Year (Based on Investment Sales)</a:t>
            </a:r>
          </a:p>
        </p:txBody>
      </p:sp>
      <p:pic>
        <p:nvPicPr>
          <p:cNvPr id="5" name="Picture 4">
            <a:extLst>
              <a:ext uri="{FF2B5EF4-FFF2-40B4-BE49-F238E27FC236}">
                <a16:creationId xmlns:a16="http://schemas.microsoft.com/office/drawing/2014/main" id="{D1E8EBD0-A422-C162-9167-21A3CF0C0336}"/>
              </a:ext>
            </a:extLst>
          </p:cNvPr>
          <p:cNvPicPr>
            <a:picLocks noChangeAspect="1"/>
          </p:cNvPicPr>
          <p:nvPr/>
        </p:nvPicPr>
        <p:blipFill>
          <a:blip r:embed="rId3"/>
          <a:stretch>
            <a:fillRect/>
          </a:stretch>
        </p:blipFill>
        <p:spPr>
          <a:xfrm>
            <a:off x="2137863" y="1517580"/>
            <a:ext cx="7154273" cy="4258269"/>
          </a:xfrm>
          <a:prstGeom prst="rect">
            <a:avLst/>
          </a:prstGeom>
        </p:spPr>
      </p:pic>
    </p:spTree>
    <p:extLst>
      <p:ext uri="{BB962C8B-B14F-4D97-AF65-F5344CB8AC3E}">
        <p14:creationId xmlns:p14="http://schemas.microsoft.com/office/powerpoint/2010/main" val="748979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6ECC62-BD9C-EF25-655E-C2CC3D0773B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64DE647-BF6A-5EB1-5BA8-D2A8074C5AC4}"/>
              </a:ext>
            </a:extLst>
          </p:cNvPr>
          <p:cNvSpPr txBox="1">
            <a:spLocks/>
          </p:cNvSpPr>
          <p:nvPr/>
        </p:nvSpPr>
        <p:spPr>
          <a:xfrm>
            <a:off x="630936" y="502920"/>
            <a:ext cx="3419856" cy="14630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300" kern="1200">
                <a:solidFill>
                  <a:schemeClr val="tx1"/>
                </a:solidFill>
                <a:latin typeface="+mj-lt"/>
                <a:ea typeface="+mj-ea"/>
                <a:cs typeface="+mj-cs"/>
              </a:rPr>
              <a:t>Top Ten Municipalities for Investing by Year (Based on Investment Sales)</a:t>
            </a:r>
          </a:p>
        </p:txBody>
      </p:sp>
      <p:sp>
        <p:nvSpPr>
          <p:cNvPr id="16"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8440614-CA7B-4138-0419-830C02786D82}"/>
              </a:ext>
            </a:extLst>
          </p:cNvPr>
          <p:cNvSpPr txBox="1"/>
          <p:nvPr/>
        </p:nvSpPr>
        <p:spPr>
          <a:xfrm>
            <a:off x="4654295" y="502920"/>
            <a:ext cx="6894576" cy="1463040"/>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400"/>
              <a:t>Most of the Top Ten Municipalities has their investment sales peaks between 2017 – 2020 with East Orange have the highest peak of them all in 2020</a:t>
            </a:r>
          </a:p>
          <a:p>
            <a:pPr marL="285750" indent="-228600">
              <a:lnSpc>
                <a:spcPct val="90000"/>
              </a:lnSpc>
              <a:spcAft>
                <a:spcPts val="600"/>
              </a:spcAft>
              <a:buFont typeface="Arial" panose="020B0604020202020204" pitchFamily="34" charset="0"/>
              <a:buChar char="•"/>
            </a:pPr>
            <a:r>
              <a:rPr lang="en-US" sz="1400"/>
              <a:t>Morris Plains had a later period of heavy investing occurring from 2021 and peaking in 2023</a:t>
            </a:r>
          </a:p>
          <a:p>
            <a:pPr marL="285750" indent="-228600">
              <a:lnSpc>
                <a:spcPct val="90000"/>
              </a:lnSpc>
              <a:spcAft>
                <a:spcPts val="600"/>
              </a:spcAft>
              <a:buFont typeface="Arial" panose="020B0604020202020204" pitchFamily="34" charset="0"/>
              <a:buChar char="•"/>
            </a:pPr>
            <a:r>
              <a:rPr lang="en-US" sz="1400"/>
              <a:t>The city of Newark has had two peak investment period occurring in 2018 and 2023 respectively</a:t>
            </a:r>
          </a:p>
        </p:txBody>
      </p:sp>
      <p:pic>
        <p:nvPicPr>
          <p:cNvPr id="8" name="Picture 7">
            <a:extLst>
              <a:ext uri="{FF2B5EF4-FFF2-40B4-BE49-F238E27FC236}">
                <a16:creationId xmlns:a16="http://schemas.microsoft.com/office/drawing/2014/main" id="{A4937EBF-066D-D78D-83AF-AD2A27E42969}"/>
              </a:ext>
            </a:extLst>
          </p:cNvPr>
          <p:cNvPicPr>
            <a:picLocks noChangeAspect="1"/>
          </p:cNvPicPr>
          <p:nvPr/>
        </p:nvPicPr>
        <p:blipFill>
          <a:blip r:embed="rId2"/>
          <a:stretch>
            <a:fillRect/>
          </a:stretch>
        </p:blipFill>
        <p:spPr>
          <a:xfrm>
            <a:off x="739429" y="2290936"/>
            <a:ext cx="10700950" cy="3959352"/>
          </a:xfrm>
          <a:prstGeom prst="rect">
            <a:avLst/>
          </a:prstGeom>
        </p:spPr>
      </p:pic>
      <p:sp>
        <p:nvSpPr>
          <p:cNvPr id="4" name="Slide Number Placeholder 3">
            <a:extLst>
              <a:ext uri="{FF2B5EF4-FFF2-40B4-BE49-F238E27FC236}">
                <a16:creationId xmlns:a16="http://schemas.microsoft.com/office/drawing/2014/main" id="{D448CBD1-42EE-1432-EA9E-3DB748196E3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29</a:t>
            </a:fld>
            <a:endParaRPr lang="en-US" sz="1200">
              <a:solidFill>
                <a:schemeClr val="tx1">
                  <a:tint val="75000"/>
                </a:schemeClr>
              </a:solidFill>
              <a:latin typeface="+mn-lt"/>
            </a:endParaRPr>
          </a:p>
        </p:txBody>
      </p:sp>
    </p:spTree>
    <p:extLst>
      <p:ext uri="{BB962C8B-B14F-4D97-AF65-F5344CB8AC3E}">
        <p14:creationId xmlns:p14="http://schemas.microsoft.com/office/powerpoint/2010/main" val="3196389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Investment Properties Sold vs Municipal Median Sales Price (2024)</a:t>
            </a:r>
          </a:p>
        </p:txBody>
      </p:sp>
      <p:pic>
        <p:nvPicPr>
          <p:cNvPr id="6" name="Picture 5">
            <a:extLst>
              <a:ext uri="{FF2B5EF4-FFF2-40B4-BE49-F238E27FC236}">
                <a16:creationId xmlns:a16="http://schemas.microsoft.com/office/drawing/2014/main" id="{3E7A0FA8-9AC3-E343-C71B-49C863EEE60B}"/>
              </a:ext>
            </a:extLst>
          </p:cNvPr>
          <p:cNvPicPr>
            <a:picLocks noChangeAspect="1"/>
          </p:cNvPicPr>
          <p:nvPr/>
        </p:nvPicPr>
        <p:blipFill>
          <a:blip r:embed="rId3"/>
          <a:stretch>
            <a:fillRect/>
          </a:stretch>
        </p:blipFill>
        <p:spPr>
          <a:xfrm>
            <a:off x="350911" y="2202053"/>
            <a:ext cx="11353800" cy="2709166"/>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EE8695-DE94-FEC6-2326-3F1949EEFEA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C9E61FC6-542B-E8BA-CDA8-CC439DBE6083}"/>
              </a:ext>
            </a:extLst>
          </p:cNvPr>
          <p:cNvSpPr txBox="1">
            <a:spLocks/>
          </p:cNvSpPr>
          <p:nvPr/>
        </p:nvSpPr>
        <p:spPr>
          <a:xfrm>
            <a:off x="1046746" y="586822"/>
            <a:ext cx="3560252"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700" kern="1200">
                <a:solidFill>
                  <a:schemeClr val="tx1"/>
                </a:solidFill>
                <a:latin typeface="+mj-lt"/>
                <a:ea typeface="+mj-ea"/>
                <a:cs typeface="+mj-cs"/>
              </a:rPr>
              <a:t>Investment Properties Sold vs Municipal Median Sales Price (2024)</a:t>
            </a:r>
          </a:p>
        </p:txBody>
      </p:sp>
      <p:sp>
        <p:nvSpPr>
          <p:cNvPr id="16" name="Rectangle 1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0EEF24B7-D7D1-7A30-CDF0-234CFB42DFB3}"/>
              </a:ext>
            </a:extLst>
          </p:cNvPr>
          <p:cNvSpPr txBox="1"/>
          <p:nvPr/>
        </p:nvSpPr>
        <p:spPr>
          <a:xfrm>
            <a:off x="5351164" y="586822"/>
            <a:ext cx="6002636" cy="1645920"/>
          </a:xfrm>
          <a:prstGeom prst="rect">
            <a:avLst/>
          </a:prstGeom>
        </p:spPr>
        <p:txBody>
          <a:bodyPr vert="horz" lIns="91440" tIns="45720" rIns="91440" bIns="45720" rtlCol="0" anchor="ctr">
            <a:normAutofit lnSpcReduction="10000"/>
          </a:bodyPr>
          <a:lstStyle/>
          <a:p>
            <a:pPr marL="285750" indent="-228600">
              <a:lnSpc>
                <a:spcPct val="90000"/>
              </a:lnSpc>
              <a:spcAft>
                <a:spcPts val="600"/>
              </a:spcAft>
              <a:buFont typeface="Arial" panose="020B0604020202020204" pitchFamily="34" charset="0"/>
              <a:buChar char="•"/>
            </a:pPr>
            <a:r>
              <a:rPr lang="en-US" sz="1500" dirty="0"/>
              <a:t>I wanted to see what the distribution was like for total investments in municipalities across the full range of median sales prices (Is investing targeted to primarily to lower prices areas?)</a:t>
            </a:r>
          </a:p>
          <a:p>
            <a:pPr marL="285750" indent="-228600">
              <a:lnSpc>
                <a:spcPct val="90000"/>
              </a:lnSpc>
              <a:spcAft>
                <a:spcPts val="600"/>
              </a:spcAft>
              <a:buFont typeface="Arial" panose="020B0604020202020204" pitchFamily="34" charset="0"/>
              <a:buChar char="•"/>
            </a:pPr>
            <a:r>
              <a:rPr lang="en-US" sz="1500" dirty="0"/>
              <a:t>It seems like investing is concentrated in municipalities with median sales prices ranging from approximately $300k to $800k</a:t>
            </a:r>
          </a:p>
          <a:p>
            <a:pPr marL="285750" indent="-228600">
              <a:lnSpc>
                <a:spcPct val="90000"/>
              </a:lnSpc>
              <a:spcAft>
                <a:spcPts val="600"/>
              </a:spcAft>
              <a:buFont typeface="Arial" panose="020B0604020202020204" pitchFamily="34" charset="0"/>
              <a:buChar char="•"/>
            </a:pPr>
            <a:r>
              <a:rPr lang="en-US" sz="1500" dirty="0"/>
              <a:t>This range is a lot higher than my assumed range of approximately $200k to $500k</a:t>
            </a:r>
          </a:p>
        </p:txBody>
      </p:sp>
      <p:pic>
        <p:nvPicPr>
          <p:cNvPr id="5" name="Picture 4">
            <a:extLst>
              <a:ext uri="{FF2B5EF4-FFF2-40B4-BE49-F238E27FC236}">
                <a16:creationId xmlns:a16="http://schemas.microsoft.com/office/drawing/2014/main" id="{0419180D-3B34-CC44-2810-6F9D8FE39BB4}"/>
              </a:ext>
            </a:extLst>
          </p:cNvPr>
          <p:cNvPicPr>
            <a:picLocks noChangeAspect="1"/>
          </p:cNvPicPr>
          <p:nvPr/>
        </p:nvPicPr>
        <p:blipFill>
          <a:blip r:embed="rId2"/>
          <a:stretch>
            <a:fillRect/>
          </a:stretch>
        </p:blipFill>
        <p:spPr>
          <a:xfrm>
            <a:off x="952991" y="2734056"/>
            <a:ext cx="9992534" cy="3622294"/>
          </a:xfrm>
          <a:prstGeom prst="rect">
            <a:avLst/>
          </a:prstGeom>
        </p:spPr>
      </p:pic>
      <p:sp>
        <p:nvSpPr>
          <p:cNvPr id="4" name="Slide Number Placeholder 3">
            <a:extLst>
              <a:ext uri="{FF2B5EF4-FFF2-40B4-BE49-F238E27FC236}">
                <a16:creationId xmlns:a16="http://schemas.microsoft.com/office/drawing/2014/main" id="{063D7073-DC97-65FE-FA22-7B63EB6DA4A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31</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1725461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438913" y="859536"/>
            <a:ext cx="4832802" cy="117043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400">
                <a:solidFill>
                  <a:schemeClr val="tx1"/>
                </a:solidFill>
                <a:latin typeface="+mj-lt"/>
                <a:ea typeface="+mj-ea"/>
                <a:cs typeface="+mj-cs"/>
              </a:rPr>
              <a:t>Bank Owned Properties By Year</a:t>
            </a:r>
          </a:p>
        </p:txBody>
      </p:sp>
      <p:sp>
        <p:nvSpPr>
          <p:cNvPr id="30" name="Rectangle 29">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4B442191-97DF-DAC8-8808-7BF193E0F7D2}"/>
              </a:ext>
            </a:extLst>
          </p:cNvPr>
          <p:cNvSpPr txBox="1"/>
          <p:nvPr/>
        </p:nvSpPr>
        <p:spPr>
          <a:xfrm>
            <a:off x="438912" y="2512611"/>
            <a:ext cx="4832803" cy="3664351"/>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dirty="0"/>
              <a:t>The graph below shows different periods of the real estate market where foreclosures were on the rise</a:t>
            </a:r>
          </a:p>
          <a:p>
            <a:pPr marL="285750" indent="-228600">
              <a:lnSpc>
                <a:spcPct val="90000"/>
              </a:lnSpc>
              <a:spcAft>
                <a:spcPts val="600"/>
              </a:spcAft>
              <a:buFont typeface="Arial" panose="020B0604020202020204" pitchFamily="34" charset="0"/>
              <a:buChar char="•"/>
            </a:pPr>
            <a:r>
              <a:rPr lang="en-US" dirty="0"/>
              <a:t>As expected, the highest rise and peak of properties foreclosed and sold by the bank occurred during the Great Financial Crisis </a:t>
            </a:r>
          </a:p>
          <a:p>
            <a:pPr marL="285750" indent="-228600">
              <a:lnSpc>
                <a:spcPct val="90000"/>
              </a:lnSpc>
              <a:spcAft>
                <a:spcPts val="600"/>
              </a:spcAft>
              <a:buFont typeface="Arial" panose="020B0604020202020204" pitchFamily="34" charset="0"/>
              <a:buChar char="•"/>
            </a:pPr>
            <a:r>
              <a:rPr lang="en-US" dirty="0"/>
              <a:t>Highlighted in blue was the period of COVID where unemployment was at it’s highest. However, a national mortgage moratorium was passed where homes could not be seized due to late/delinquent mortgage payments</a:t>
            </a:r>
          </a:p>
          <a:p>
            <a:pPr marL="285750" indent="-228600">
              <a:lnSpc>
                <a:spcPct val="90000"/>
              </a:lnSpc>
              <a:spcAft>
                <a:spcPts val="600"/>
              </a:spcAft>
              <a:buFont typeface="Arial" panose="020B0604020202020204" pitchFamily="34" charset="0"/>
              <a:buChar char="•"/>
            </a:pPr>
            <a:r>
              <a:rPr lang="en-US" dirty="0"/>
              <a:t>Bank foreclosures have steadily been on the rise and have plateaued from 2023-2024</a:t>
            </a:r>
          </a:p>
        </p:txBody>
      </p:sp>
      <p:pic>
        <p:nvPicPr>
          <p:cNvPr id="10" name="Picture 9">
            <a:extLst>
              <a:ext uri="{FF2B5EF4-FFF2-40B4-BE49-F238E27FC236}">
                <a16:creationId xmlns:a16="http://schemas.microsoft.com/office/drawing/2014/main" id="{FCE28149-B649-1340-0672-3126FEC145AB}"/>
              </a:ext>
            </a:extLst>
          </p:cNvPr>
          <p:cNvPicPr>
            <a:picLocks noChangeAspect="1"/>
          </p:cNvPicPr>
          <p:nvPr/>
        </p:nvPicPr>
        <p:blipFill>
          <a:blip r:embed="rId2"/>
          <a:stretch>
            <a:fillRect/>
          </a:stretch>
        </p:blipFill>
        <p:spPr>
          <a:xfrm>
            <a:off x="6391183" y="674285"/>
            <a:ext cx="5497361" cy="3064778"/>
          </a:xfrm>
          <a:prstGeom prst="rect">
            <a:avLst/>
          </a:prstGeom>
        </p:spPr>
      </p:pic>
      <p:pic>
        <p:nvPicPr>
          <p:cNvPr id="12" name="Picture 11">
            <a:extLst>
              <a:ext uri="{FF2B5EF4-FFF2-40B4-BE49-F238E27FC236}">
                <a16:creationId xmlns:a16="http://schemas.microsoft.com/office/drawing/2014/main" id="{97FA6EFF-7A28-6F3E-50F7-3F27D9EA7D24}"/>
              </a:ext>
            </a:extLst>
          </p:cNvPr>
          <p:cNvPicPr>
            <a:picLocks noChangeAspect="1"/>
          </p:cNvPicPr>
          <p:nvPr/>
        </p:nvPicPr>
        <p:blipFill>
          <a:blip r:embed="rId3"/>
          <a:stretch>
            <a:fillRect/>
          </a:stretch>
        </p:blipFill>
        <p:spPr>
          <a:xfrm>
            <a:off x="6106632" y="4084028"/>
            <a:ext cx="5826470" cy="2272322"/>
          </a:xfrm>
          <a:prstGeom prst="rect">
            <a:avLst/>
          </a:prstGeom>
        </p:spPr>
      </p:pic>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10329529" y="6356350"/>
            <a:ext cx="1423557"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32</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4010014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832D96-3C9D-EA48-19B3-C485E0715B65}"/>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Freeform: Shape 29">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D2BE6934-AA13-5D56-DF03-726D48660849}"/>
              </a:ext>
            </a:extLst>
          </p:cNvPr>
          <p:cNvSpPr txBox="1">
            <a:spLocks/>
          </p:cNvSpPr>
          <p:nvPr/>
        </p:nvSpPr>
        <p:spPr>
          <a:xfrm>
            <a:off x="438913" y="859536"/>
            <a:ext cx="4832802" cy="117043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100" dirty="0">
                <a:solidFill>
                  <a:schemeClr val="tx1"/>
                </a:solidFill>
                <a:latin typeface="+mj-lt"/>
                <a:ea typeface="+mj-ea"/>
                <a:cs typeface="+mj-cs"/>
              </a:rPr>
              <a:t>Distribution of Homes Sold by the Year Built</a:t>
            </a:r>
          </a:p>
        </p:txBody>
      </p:sp>
      <p:sp>
        <p:nvSpPr>
          <p:cNvPr id="32" name="Rectangle 31">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Rectangle 32">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8B342C8-2583-52B6-2C88-A74BCFE2DF78}"/>
              </a:ext>
            </a:extLst>
          </p:cNvPr>
          <p:cNvSpPr txBox="1"/>
          <p:nvPr/>
        </p:nvSpPr>
        <p:spPr>
          <a:xfrm>
            <a:off x="438912" y="2262239"/>
            <a:ext cx="4832803" cy="3664351"/>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dirty="0"/>
              <a:t>Homes built in the 1950s and 1980s dominate the existing sold market</a:t>
            </a:r>
          </a:p>
          <a:p>
            <a:pPr marL="285750" indent="-228600">
              <a:lnSpc>
                <a:spcPct val="90000"/>
              </a:lnSpc>
              <a:spcAft>
                <a:spcPts val="600"/>
              </a:spcAft>
              <a:buFont typeface="Arial" panose="020B0604020202020204" pitchFamily="34" charset="0"/>
              <a:buChar char="•"/>
            </a:pPr>
            <a:r>
              <a:rPr lang="en-US" dirty="0"/>
              <a:t>New construction Single family homes have seen a heavy decline since the early 2000s</a:t>
            </a:r>
          </a:p>
          <a:p>
            <a:pPr marL="285750" indent="-228600">
              <a:lnSpc>
                <a:spcPct val="90000"/>
              </a:lnSpc>
              <a:spcAft>
                <a:spcPts val="600"/>
              </a:spcAft>
              <a:buFont typeface="Arial" panose="020B0604020202020204" pitchFamily="34" charset="0"/>
              <a:buChar char="•"/>
            </a:pPr>
            <a:r>
              <a:rPr lang="en-US" dirty="0"/>
              <a:t>Possible factors for the decline:</a:t>
            </a:r>
          </a:p>
          <a:p>
            <a:pPr marL="742950" lvl="1" indent="-228600">
              <a:lnSpc>
                <a:spcPct val="90000"/>
              </a:lnSpc>
              <a:spcAft>
                <a:spcPts val="600"/>
              </a:spcAft>
              <a:buFont typeface="Arial" panose="020B0604020202020204" pitchFamily="34" charset="0"/>
              <a:buChar char="•"/>
            </a:pPr>
            <a:r>
              <a:rPr lang="en-US" dirty="0"/>
              <a:t>Lack of available land to develop</a:t>
            </a:r>
          </a:p>
          <a:p>
            <a:pPr marL="742950" lvl="1" indent="-228600">
              <a:lnSpc>
                <a:spcPct val="90000"/>
              </a:lnSpc>
              <a:spcAft>
                <a:spcPts val="600"/>
              </a:spcAft>
              <a:buFont typeface="Arial" panose="020B0604020202020204" pitchFamily="34" charset="0"/>
              <a:buChar char="•"/>
            </a:pPr>
            <a:r>
              <a:rPr lang="en-US" dirty="0"/>
              <a:t>Lengthy process in which new construction projects need to be approved</a:t>
            </a:r>
          </a:p>
          <a:p>
            <a:pPr marL="742950" lvl="1" indent="-228600">
              <a:lnSpc>
                <a:spcPct val="90000"/>
              </a:lnSpc>
              <a:spcAft>
                <a:spcPts val="600"/>
              </a:spcAft>
              <a:buFont typeface="Arial" panose="020B0604020202020204" pitchFamily="34" charset="0"/>
              <a:buChar char="•"/>
            </a:pPr>
            <a:r>
              <a:rPr lang="en-US" dirty="0"/>
              <a:t>Rise in the cost of materials</a:t>
            </a:r>
          </a:p>
          <a:p>
            <a:pPr marL="742950" lvl="1" indent="-228600">
              <a:lnSpc>
                <a:spcPct val="90000"/>
              </a:lnSpc>
              <a:spcAft>
                <a:spcPts val="600"/>
              </a:spcAft>
              <a:buFont typeface="Arial" panose="020B0604020202020204" pitchFamily="34" charset="0"/>
              <a:buChar char="•"/>
            </a:pPr>
            <a:r>
              <a:rPr lang="en-US" dirty="0"/>
              <a:t>New construction and existing homes have become less affordable</a:t>
            </a:r>
          </a:p>
        </p:txBody>
      </p:sp>
      <p:pic>
        <p:nvPicPr>
          <p:cNvPr id="3" name="Picture 2">
            <a:extLst>
              <a:ext uri="{FF2B5EF4-FFF2-40B4-BE49-F238E27FC236}">
                <a16:creationId xmlns:a16="http://schemas.microsoft.com/office/drawing/2014/main" id="{845F31CD-276B-5976-DE88-80331BE103F2}"/>
              </a:ext>
            </a:extLst>
          </p:cNvPr>
          <p:cNvPicPr>
            <a:picLocks noChangeAspect="1"/>
          </p:cNvPicPr>
          <p:nvPr/>
        </p:nvPicPr>
        <p:blipFill>
          <a:blip r:embed="rId2"/>
          <a:stretch>
            <a:fillRect/>
          </a:stretch>
        </p:blipFill>
        <p:spPr>
          <a:xfrm>
            <a:off x="6332359" y="3705097"/>
            <a:ext cx="5420727" cy="2263153"/>
          </a:xfrm>
          <a:prstGeom prst="rect">
            <a:avLst/>
          </a:prstGeom>
        </p:spPr>
      </p:pic>
      <p:pic>
        <p:nvPicPr>
          <p:cNvPr id="9" name="Picture 8">
            <a:extLst>
              <a:ext uri="{FF2B5EF4-FFF2-40B4-BE49-F238E27FC236}">
                <a16:creationId xmlns:a16="http://schemas.microsoft.com/office/drawing/2014/main" id="{6011FE63-C91F-9DCE-C964-72C0F4D9C0C9}"/>
              </a:ext>
            </a:extLst>
          </p:cNvPr>
          <p:cNvPicPr>
            <a:picLocks noChangeAspect="1"/>
          </p:cNvPicPr>
          <p:nvPr/>
        </p:nvPicPr>
        <p:blipFill>
          <a:blip r:embed="rId3"/>
          <a:stretch>
            <a:fillRect/>
          </a:stretch>
        </p:blipFill>
        <p:spPr>
          <a:xfrm>
            <a:off x="6085369" y="367108"/>
            <a:ext cx="6085369" cy="2949889"/>
          </a:xfrm>
          <a:prstGeom prst="rect">
            <a:avLst/>
          </a:prstGeom>
        </p:spPr>
      </p:pic>
      <p:sp>
        <p:nvSpPr>
          <p:cNvPr id="5" name="Slide Number Placeholder 4">
            <a:extLst>
              <a:ext uri="{FF2B5EF4-FFF2-40B4-BE49-F238E27FC236}">
                <a16:creationId xmlns:a16="http://schemas.microsoft.com/office/drawing/2014/main" id="{E712D3ED-2CB2-145E-F828-91A7E22247D9}"/>
              </a:ext>
            </a:extLst>
          </p:cNvPr>
          <p:cNvSpPr>
            <a:spLocks noGrp="1"/>
          </p:cNvSpPr>
          <p:nvPr>
            <p:ph type="sldNum" sz="quarter" idx="12"/>
          </p:nvPr>
        </p:nvSpPr>
        <p:spPr>
          <a:xfrm>
            <a:off x="10329529" y="6356350"/>
            <a:ext cx="1423557"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33</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1929247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868680" y="405575"/>
            <a:ext cx="5001768"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300">
                <a:solidFill>
                  <a:schemeClr val="tx1"/>
                </a:solidFill>
                <a:latin typeface="+mj-lt"/>
                <a:ea typeface="+mj-ea"/>
                <a:cs typeface="+mj-cs"/>
              </a:rPr>
              <a:t>Types of Flooring Observed in Homes Sold (2024)</a:t>
            </a:r>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9A38F78F-B3C1-4842-36D3-D0DBB85770BB}"/>
              </a:ext>
            </a:extLst>
          </p:cNvPr>
          <p:cNvPicPr>
            <a:picLocks noChangeAspect="1"/>
          </p:cNvPicPr>
          <p:nvPr/>
        </p:nvPicPr>
        <p:blipFill>
          <a:blip r:embed="rId2"/>
          <a:stretch>
            <a:fillRect/>
          </a:stretch>
        </p:blipFill>
        <p:spPr>
          <a:xfrm>
            <a:off x="6431374" y="2418562"/>
            <a:ext cx="5431536" cy="3898827"/>
          </a:xfrm>
          <a:prstGeom prst="rect">
            <a:avLst/>
          </a:prstGeom>
        </p:spPr>
      </p:pic>
      <p:pic>
        <p:nvPicPr>
          <p:cNvPr id="6" name="Picture 5">
            <a:extLst>
              <a:ext uri="{FF2B5EF4-FFF2-40B4-BE49-F238E27FC236}">
                <a16:creationId xmlns:a16="http://schemas.microsoft.com/office/drawing/2014/main" id="{504216F6-63E3-9FED-297D-A9294D65FF7E}"/>
              </a:ext>
            </a:extLst>
          </p:cNvPr>
          <p:cNvPicPr>
            <a:picLocks noChangeAspect="1"/>
          </p:cNvPicPr>
          <p:nvPr/>
        </p:nvPicPr>
        <p:blipFill>
          <a:blip r:embed="rId3"/>
          <a:stretch>
            <a:fillRect/>
          </a:stretch>
        </p:blipFill>
        <p:spPr>
          <a:xfrm>
            <a:off x="670749" y="2418562"/>
            <a:ext cx="5431536" cy="3761338"/>
          </a:xfrm>
          <a:prstGeom prst="rect">
            <a:avLst/>
          </a:prstGeom>
        </p:spPr>
      </p:pic>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610600" y="6356350"/>
            <a:ext cx="271272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34</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3145340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BA503D-445F-CD30-7A40-DFDD9259712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0F2A6BF8-1ABF-1A72-2EB2-679FE5F1AE03}"/>
              </a:ext>
            </a:extLst>
          </p:cNvPr>
          <p:cNvSpPr txBox="1">
            <a:spLocks/>
          </p:cNvSpPr>
          <p:nvPr/>
        </p:nvSpPr>
        <p:spPr>
          <a:xfrm>
            <a:off x="1161713" y="424345"/>
            <a:ext cx="4036334" cy="23876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800" kern="1200" dirty="0">
                <a:solidFill>
                  <a:schemeClr val="tx1"/>
                </a:solidFill>
                <a:latin typeface="+mj-lt"/>
                <a:ea typeface="+mj-ea"/>
                <a:cs typeface="+mj-cs"/>
              </a:rPr>
              <a:t>Types of Flooring Observed in Homes Sold (2024) cont’d</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919A19-0E72-D8BB-DA29-E5FCA4D65C93}"/>
              </a:ext>
            </a:extLst>
          </p:cNvPr>
          <p:cNvPicPr>
            <a:picLocks noChangeAspect="1"/>
          </p:cNvPicPr>
          <p:nvPr/>
        </p:nvPicPr>
        <p:blipFill>
          <a:blip r:embed="rId2"/>
          <a:stretch>
            <a:fillRect/>
          </a:stretch>
        </p:blipFill>
        <p:spPr>
          <a:xfrm>
            <a:off x="5922492" y="943023"/>
            <a:ext cx="5536001" cy="4913200"/>
          </a:xfrm>
          <a:prstGeom prst="rect">
            <a:avLst/>
          </a:prstGeom>
        </p:spPr>
      </p:pic>
      <p:sp>
        <p:nvSpPr>
          <p:cNvPr id="5" name="Slide Number Placeholder 4">
            <a:extLst>
              <a:ext uri="{FF2B5EF4-FFF2-40B4-BE49-F238E27FC236}">
                <a16:creationId xmlns:a16="http://schemas.microsoft.com/office/drawing/2014/main" id="{8ADF0E35-E2AE-18E4-558E-08354562FBBC}"/>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35</a:t>
            </a:fld>
            <a:endParaRPr lang="en-US" sz="1200">
              <a:solidFill>
                <a:schemeClr val="tx1">
                  <a:tint val="75000"/>
                </a:schemeClr>
              </a:solidFill>
              <a:latin typeface="+mn-lt"/>
            </a:endParaRPr>
          </a:p>
        </p:txBody>
      </p:sp>
      <p:sp>
        <p:nvSpPr>
          <p:cNvPr id="6" name="TextBox 5">
            <a:extLst>
              <a:ext uri="{FF2B5EF4-FFF2-40B4-BE49-F238E27FC236}">
                <a16:creationId xmlns:a16="http://schemas.microsoft.com/office/drawing/2014/main" id="{05B2988B-50AA-91E9-D808-4146133E53F8}"/>
              </a:ext>
            </a:extLst>
          </p:cNvPr>
          <p:cNvSpPr txBox="1"/>
          <p:nvPr/>
        </p:nvSpPr>
        <p:spPr>
          <a:xfrm>
            <a:off x="968203" y="2542539"/>
            <a:ext cx="4344987"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Types of flooring used in a property can add value, especially if one is considering selling in the future</a:t>
            </a:r>
          </a:p>
          <a:p>
            <a:pPr marL="285750" indent="-285750">
              <a:buFont typeface="Arial" panose="020B0604020202020204" pitchFamily="34" charset="0"/>
              <a:buChar char="•"/>
            </a:pPr>
            <a:r>
              <a:rPr lang="en-US" sz="2000" dirty="0"/>
              <a:t>The most common floor types are wood, tile and carpet, respectively, with most properties having at least two of the three present</a:t>
            </a:r>
          </a:p>
          <a:p>
            <a:pPr marL="285750" indent="-285750">
              <a:buFont typeface="Arial" panose="020B0604020202020204" pitchFamily="34" charset="0"/>
              <a:buChar char="•"/>
            </a:pPr>
            <a:r>
              <a:rPr lang="en-US" sz="2000" dirty="0"/>
              <a:t>Parquet, marble and stone are the least common flooring types. These flooring types are found in higher priced properties</a:t>
            </a:r>
          </a:p>
        </p:txBody>
      </p:sp>
    </p:spTree>
    <p:extLst>
      <p:ext uri="{BB962C8B-B14F-4D97-AF65-F5344CB8AC3E}">
        <p14:creationId xmlns:p14="http://schemas.microsoft.com/office/powerpoint/2010/main" val="2775677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row of houses&#10;&#10;AI-generated content may be incorrect.">
            <a:extLst>
              <a:ext uri="{FF2B5EF4-FFF2-40B4-BE49-F238E27FC236}">
                <a16:creationId xmlns:a16="http://schemas.microsoft.com/office/drawing/2014/main" id="{0E736B09-A493-564A-A6AF-70493E9264EF}"/>
              </a:ext>
            </a:extLst>
          </p:cNvPr>
          <p:cNvPicPr>
            <a:picLocks noChangeAspect="1"/>
          </p:cNvPicPr>
          <p:nvPr/>
        </p:nvPicPr>
        <p:blipFill>
          <a:blip r:embed="rId3"/>
          <a:srcRect t="9091" r="13818"/>
          <a:stretch>
            <a:fillRect/>
          </a:stretch>
        </p:blipFill>
        <p:spPr>
          <a:xfrm>
            <a:off x="3523488" y="10"/>
            <a:ext cx="8668512" cy="6857990"/>
          </a:xfrm>
          <a:prstGeom prst="rect">
            <a:avLst/>
          </a:prstGeom>
        </p:spPr>
      </p:pic>
      <p:sp>
        <p:nvSpPr>
          <p:cNvPr id="31" name="Rectangle 3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B25EC16-0638-FF41-B7CF-E42224EF7FA1}"/>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a:solidFill>
                  <a:schemeClr val="bg1"/>
                </a:solidFill>
                <a:latin typeface="+mj-lt"/>
                <a:ea typeface="+mj-ea"/>
                <a:cs typeface="+mj-cs"/>
              </a:rPr>
              <a:t>Section 3:</a:t>
            </a:r>
          </a:p>
          <a:p>
            <a:pPr>
              <a:lnSpc>
                <a:spcPct val="90000"/>
              </a:lnSpc>
              <a:spcBef>
                <a:spcPct val="0"/>
              </a:spcBef>
              <a:spcAft>
                <a:spcPts val="600"/>
              </a:spcAft>
            </a:pPr>
            <a:r>
              <a:rPr lang="en-US" sz="4400">
                <a:solidFill>
                  <a:schemeClr val="bg1"/>
                </a:solidFill>
                <a:latin typeface="+mj-lt"/>
                <a:ea typeface="+mj-ea"/>
                <a:cs typeface="+mj-cs"/>
              </a:rPr>
              <a:t>Data Visualization (Folium Dashboard)</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352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517889" y="4883544"/>
            <a:ext cx="3876086" cy="15569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a:solidFill>
                  <a:schemeClr val="tx1"/>
                </a:solidFill>
                <a:latin typeface="+mj-lt"/>
                <a:ea typeface="+mj-ea"/>
                <a:cs typeface="+mj-cs"/>
              </a:rPr>
              <a:t>NJ Comparables Dashboard</a:t>
            </a:r>
          </a:p>
        </p:txBody>
      </p:sp>
      <p:sp>
        <p:nvSpPr>
          <p:cNvPr id="19" name="Rectangle 18">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840BDEE-4D7E-8EB0-4691-3EB260D31E66}"/>
              </a:ext>
            </a:extLst>
          </p:cNvPr>
          <p:cNvPicPr>
            <a:picLocks noChangeAspect="1"/>
          </p:cNvPicPr>
          <p:nvPr/>
        </p:nvPicPr>
        <p:blipFill>
          <a:blip r:embed="rId3"/>
          <a:srcRect t="1357" b="12893"/>
          <a:stretch>
            <a:fillRect/>
          </a:stretch>
        </p:blipFill>
        <p:spPr>
          <a:xfrm>
            <a:off x="959205" y="364142"/>
            <a:ext cx="10369645" cy="3867993"/>
          </a:xfrm>
          <a:prstGeom prst="rect">
            <a:avLst/>
          </a:prstGeom>
        </p:spPr>
      </p:pic>
      <p:sp>
        <p:nvSpPr>
          <p:cNvPr id="20" name="Rectangle 1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FE41D1A-7570-9697-8157-14C55A5F15F3}"/>
              </a:ext>
            </a:extLst>
          </p:cNvPr>
          <p:cNvSpPr txBox="1"/>
          <p:nvPr/>
        </p:nvSpPr>
        <p:spPr>
          <a:xfrm>
            <a:off x="4911864" y="4883544"/>
            <a:ext cx="6994147" cy="1811170"/>
          </a:xfrm>
          <a:prstGeom prst="rect">
            <a:avLst/>
          </a:prstGeom>
        </p:spPr>
        <p:txBody>
          <a:bodyPr vert="horz" lIns="91440" tIns="45720" rIns="91440" bIns="45720" rtlCol="0" anchor="ctr">
            <a:normAutofit fontScale="92500" lnSpcReduction="10000"/>
          </a:bodyPr>
          <a:lstStyle/>
          <a:p>
            <a:pPr indent="-228600">
              <a:lnSpc>
                <a:spcPct val="90000"/>
              </a:lnSpc>
              <a:spcAft>
                <a:spcPts val="600"/>
              </a:spcAft>
              <a:buFont typeface="Arial" panose="020B0604020202020204" pitchFamily="34" charset="0"/>
              <a:buChar char="•"/>
            </a:pPr>
            <a:r>
              <a:rPr lang="en-US" altLang="en-US" sz="1400" dirty="0"/>
              <a:t>The NJ Comparables Dashboard was designed to be a one-stop shop for real estate agents, home buyers and home </a:t>
            </a:r>
            <a:br>
              <a:rPr lang="en-US" altLang="en-US" sz="1400" dirty="0"/>
            </a:br>
            <a:r>
              <a:rPr lang="en-US" altLang="en-US" sz="1400" dirty="0"/>
              <a:t>sellers alike in the state of NJ to generate quick comparable properties as well as gauge a subject property's sales price based on its physical and locational characteristics.</a:t>
            </a:r>
          </a:p>
          <a:p>
            <a:pPr indent="-228600">
              <a:lnSpc>
                <a:spcPct val="90000"/>
              </a:lnSpc>
              <a:spcAft>
                <a:spcPts val="600"/>
              </a:spcAft>
              <a:buFont typeface="Arial" panose="020B0604020202020204" pitchFamily="34" charset="0"/>
              <a:buChar char="•"/>
            </a:pPr>
            <a:r>
              <a:rPr lang="en-US" altLang="en-US" sz="1400" dirty="0"/>
              <a:t>In addition, one can </a:t>
            </a:r>
            <a:br>
              <a:rPr lang="en-US" altLang="en-US" sz="1400" dirty="0"/>
            </a:br>
            <a:r>
              <a:rPr lang="en-US" altLang="en-US" sz="1400" dirty="0"/>
              <a:t>assess local real estate market activity with closed homes (metrics such as homes available, currently </a:t>
            </a:r>
            <a:br>
              <a:rPr lang="en-US" altLang="en-US" sz="1400" dirty="0"/>
            </a:br>
            <a:r>
              <a:rPr lang="en-US" altLang="en-US" sz="1400" dirty="0"/>
              <a:t>under contract, withdrawn/expired coming soon) to help recognize what transactions are occurring on a </a:t>
            </a:r>
            <a:br>
              <a:rPr lang="en-US" altLang="en-US" sz="1400" dirty="0"/>
            </a:br>
            <a:r>
              <a:rPr lang="en-US" altLang="en-US" sz="1400" dirty="0"/>
              <a:t>weekly basis. </a:t>
            </a:r>
            <a:endParaRPr lang="en-US" altLang="en-US" sz="1100" dirty="0"/>
          </a:p>
          <a:p>
            <a:pPr indent="-228600">
              <a:lnSpc>
                <a:spcPct val="90000"/>
              </a:lnSpc>
              <a:spcAft>
                <a:spcPts val="600"/>
              </a:spcAft>
              <a:buFont typeface="Arial" panose="020B0604020202020204" pitchFamily="34" charset="0"/>
              <a:buChar char="•"/>
            </a:pPr>
            <a:endParaRPr lang="en-US" sz="1100" dirty="0"/>
          </a:p>
        </p:txBody>
      </p:sp>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defRPr/>
            </a:pPr>
            <a:fld id="{5075537C-CA84-1446-933C-8E9D027F9201}" type="slidenum">
              <a:rPr lang="en-US" sz="1200">
                <a:solidFill>
                  <a:prstClr val="black">
                    <a:tint val="75000"/>
                  </a:prstClr>
                </a:solidFill>
                <a:latin typeface="Calibri" panose="020F0502020204030204"/>
              </a:rPr>
              <a:pPr>
                <a:spcAft>
                  <a:spcPts val="600"/>
                </a:spcAft>
                <a:defRPr/>
              </a:pPr>
              <a:t>37</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981671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517889" y="4883544"/>
            <a:ext cx="3876086" cy="15569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a:solidFill>
                  <a:schemeClr val="tx1"/>
                </a:solidFill>
                <a:latin typeface="+mj-lt"/>
                <a:ea typeface="+mj-ea"/>
                <a:cs typeface="+mj-cs"/>
              </a:rPr>
              <a:t>Comparables Results</a:t>
            </a:r>
          </a:p>
        </p:txBody>
      </p:sp>
      <p:sp>
        <p:nvSpPr>
          <p:cNvPr id="18" name="Rectangle 17">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0F10608-71B5-1C66-DBCF-3070A3923259}"/>
              </a:ext>
            </a:extLst>
          </p:cNvPr>
          <p:cNvPicPr>
            <a:picLocks noChangeAspect="1"/>
          </p:cNvPicPr>
          <p:nvPr/>
        </p:nvPicPr>
        <p:blipFill>
          <a:blip r:embed="rId2"/>
          <a:srcRect t="-3204" b="10045"/>
          <a:stretch>
            <a:fillRect/>
          </a:stretch>
        </p:blipFill>
        <p:spPr>
          <a:xfrm>
            <a:off x="959205" y="65323"/>
            <a:ext cx="10369645" cy="4419599"/>
          </a:xfrm>
          <a:prstGeom prst="rect">
            <a:avLst/>
          </a:prstGeom>
        </p:spPr>
      </p:pic>
      <p:sp>
        <p:nvSpPr>
          <p:cNvPr id="22" name="Rectangle 21">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80F2D91-652E-7837-79C5-08D75E870D2A}"/>
              </a:ext>
            </a:extLst>
          </p:cNvPr>
          <p:cNvSpPr txBox="1"/>
          <p:nvPr/>
        </p:nvSpPr>
        <p:spPr>
          <a:xfrm>
            <a:off x="5162719" y="4927088"/>
            <a:ext cx="6586915" cy="1556907"/>
          </a:xfrm>
          <a:prstGeom prst="rect">
            <a:avLst/>
          </a:prstGeom>
        </p:spPr>
        <p:txBody>
          <a:bodyPr vert="horz" lIns="91440" tIns="45720" rIns="91440" bIns="45720" rtlCol="0" anchor="ctr">
            <a:normAutofit fontScale="62500" lnSpcReduction="20000"/>
          </a:bodyPr>
          <a:lstStyle/>
          <a:p>
            <a:pPr marL="285750" indent="-228600">
              <a:lnSpc>
                <a:spcPct val="90000"/>
              </a:lnSpc>
              <a:spcAft>
                <a:spcPts val="600"/>
              </a:spcAft>
              <a:buFont typeface="Arial" panose="020B0604020202020204" pitchFamily="34" charset="0"/>
              <a:buChar char="•"/>
            </a:pPr>
            <a:r>
              <a:rPr lang="en-US" dirty="0"/>
              <a:t>This screen shows the comparable results to the target house</a:t>
            </a:r>
          </a:p>
          <a:p>
            <a:pPr marL="285750" indent="-228600">
              <a:lnSpc>
                <a:spcPct val="90000"/>
              </a:lnSpc>
              <a:spcAft>
                <a:spcPts val="600"/>
              </a:spcAft>
              <a:buFont typeface="Arial" panose="020B0604020202020204" pitchFamily="34" charset="0"/>
              <a:buChar char="•"/>
            </a:pPr>
            <a:r>
              <a:rPr lang="en-US" dirty="0"/>
              <a:t>The larger blue circles on the map depict the radius from the target property in which a comp would be considered (0.25 – 2 miles)</a:t>
            </a:r>
          </a:p>
          <a:p>
            <a:pPr marL="285750" indent="-228600">
              <a:lnSpc>
                <a:spcPct val="90000"/>
              </a:lnSpc>
              <a:spcAft>
                <a:spcPts val="600"/>
              </a:spcAft>
              <a:buFont typeface="Arial" panose="020B0604020202020204" pitchFamily="34" charset="0"/>
              <a:buChar char="•"/>
            </a:pPr>
            <a:r>
              <a:rPr lang="en-US" dirty="0"/>
              <a:t>The quality of the comps are color coded to show which ones should be shown the most focus with blue meaning the best comp and red being not-so significant (legend appears on the dashboard)</a:t>
            </a:r>
          </a:p>
          <a:p>
            <a:pPr marL="285750" indent="-228600">
              <a:lnSpc>
                <a:spcPct val="90000"/>
              </a:lnSpc>
              <a:spcAft>
                <a:spcPts val="600"/>
              </a:spcAft>
              <a:buFont typeface="Arial" panose="020B0604020202020204" pitchFamily="34" charset="0"/>
              <a:buChar char="•"/>
            </a:pPr>
            <a:r>
              <a:rPr lang="en-US" dirty="0"/>
              <a:t>A regression deep neural network is deployed to help predict the price which the target property can sell with a +/- 5.1% average MOE </a:t>
            </a:r>
          </a:p>
          <a:p>
            <a:pPr marL="285750" indent="-228600">
              <a:lnSpc>
                <a:spcPct val="90000"/>
              </a:lnSpc>
              <a:spcAft>
                <a:spcPts val="600"/>
              </a:spcAft>
              <a:buFont typeface="Arial" panose="020B0604020202020204" pitchFamily="34" charset="0"/>
              <a:buChar char="•"/>
            </a:pPr>
            <a:r>
              <a:rPr lang="en-US" dirty="0"/>
              <a:t>The dashboard provides interesting statistical information about the target property’s intrinsic characteristics if they stand out against the population</a:t>
            </a:r>
          </a:p>
        </p:txBody>
      </p:sp>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defRPr/>
            </a:pPr>
            <a:fld id="{5075537C-CA84-1446-933C-8E9D027F9201}" type="slidenum">
              <a:rPr lang="en-US" sz="1200" smtClean="0">
                <a:solidFill>
                  <a:prstClr val="black">
                    <a:tint val="75000"/>
                  </a:prstClr>
                </a:solidFill>
                <a:latin typeface="Calibri" panose="020F0502020204030204"/>
              </a:rPr>
              <a:pPr>
                <a:spcAft>
                  <a:spcPts val="600"/>
                </a:spcAft>
                <a:defRPr/>
              </a:pPr>
              <a:t>38</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39597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ow of houses&#10;&#10;AI-generated content may be incorrect.">
            <a:extLst>
              <a:ext uri="{FF2B5EF4-FFF2-40B4-BE49-F238E27FC236}">
                <a16:creationId xmlns:a16="http://schemas.microsoft.com/office/drawing/2014/main" id="{F24A04EF-CB3B-AF19-FF3C-37A3F8863364}"/>
              </a:ext>
            </a:extLst>
          </p:cNvPr>
          <p:cNvPicPr>
            <a:picLocks noChangeAspect="1"/>
          </p:cNvPicPr>
          <p:nvPr/>
        </p:nvPicPr>
        <p:blipFill>
          <a:blip r:embed="rId3"/>
          <a:srcRect t="9091" r="23010" b="-2"/>
          <a:stretch>
            <a:fillRect/>
          </a:stretch>
        </p:blipFill>
        <p:spPr>
          <a:xfrm>
            <a:off x="3523488" y="10"/>
            <a:ext cx="8668512" cy="6857990"/>
          </a:xfrm>
          <a:prstGeom prst="rect">
            <a:avLst/>
          </a:prstGeom>
        </p:spPr>
      </p:pic>
      <p:sp>
        <p:nvSpPr>
          <p:cNvPr id="28" name="Rectangle 2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4237DFD2-2B76-8445-A1BD-6628DC42C398}"/>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100">
                <a:solidFill>
                  <a:schemeClr val="bg1"/>
                </a:solidFill>
                <a:latin typeface="+mj-lt"/>
                <a:ea typeface="+mj-ea"/>
                <a:cs typeface="+mj-cs"/>
              </a:rPr>
              <a:t>Section 5:</a:t>
            </a:r>
          </a:p>
          <a:p>
            <a:pPr>
              <a:lnSpc>
                <a:spcPct val="90000"/>
              </a:lnSpc>
              <a:spcBef>
                <a:spcPct val="0"/>
              </a:spcBef>
              <a:spcAft>
                <a:spcPts val="600"/>
              </a:spcAft>
            </a:pPr>
            <a:r>
              <a:rPr lang="en-US" sz="4100">
                <a:solidFill>
                  <a:schemeClr val="bg1"/>
                </a:solidFill>
                <a:latin typeface="+mj-lt"/>
                <a:ea typeface="+mj-ea"/>
                <a:cs typeface="+mj-cs"/>
              </a:rPr>
              <a:t>Predictive Analysis</a:t>
            </a:r>
          </a:p>
          <a:p>
            <a:pPr>
              <a:lnSpc>
                <a:spcPct val="90000"/>
              </a:lnSpc>
              <a:spcBef>
                <a:spcPct val="0"/>
              </a:spcBef>
              <a:spcAft>
                <a:spcPts val="600"/>
              </a:spcAft>
            </a:pPr>
            <a:r>
              <a:rPr lang="en-US" sz="4100">
                <a:solidFill>
                  <a:schemeClr val="bg1"/>
                </a:solidFill>
                <a:latin typeface="+mj-lt"/>
                <a:ea typeface="+mj-ea"/>
                <a:cs typeface="+mj-cs"/>
              </a:rPr>
              <a:t>(Classification &amp; Regression)</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3941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1051560" y="586822"/>
            <a:ext cx="3657600"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dirty="0">
                <a:solidFill>
                  <a:schemeClr val="tx1"/>
                </a:solidFill>
                <a:latin typeface="+mj-lt"/>
                <a:ea typeface="+mj-ea"/>
                <a:cs typeface="+mj-cs"/>
              </a:rPr>
              <a:t>Classification Accuracy &amp; Confusion Matrix</a:t>
            </a:r>
          </a:p>
        </p:txBody>
      </p:sp>
      <p:sp>
        <p:nvSpPr>
          <p:cNvPr id="30" name="Rectangle 29">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1" name="Rectangle 30">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5250106" y="586822"/>
            <a:ext cx="6106742" cy="1645920"/>
          </a:xfrm>
          <a:prstGeom prst="rect">
            <a:avLst/>
          </a:prstGeom>
        </p:spPr>
        <p:txBody>
          <a:bodyPr vert="horz" lIns="91440" tIns="45720" rIns="91440" bIns="45720" rtlCol="0" anchor="ctr">
            <a:normAutofit fontScale="92500" lnSpcReduction="20000"/>
          </a:bodyPr>
          <a:lstStyle/>
          <a:p>
            <a:pPr>
              <a:spcBef>
                <a:spcPts val="1400"/>
              </a:spcBef>
            </a:pPr>
            <a:r>
              <a:rPr lang="en-US" sz="1800" dirty="0"/>
              <a:t>The classification model seems to perform well for predicting ‘Sold’ homes, but needs some improvement for determining when a home will expire on market</a:t>
            </a:r>
          </a:p>
          <a:p>
            <a:pPr>
              <a:spcBef>
                <a:spcPts val="1400"/>
              </a:spcBef>
            </a:pPr>
            <a:r>
              <a:rPr lang="en-US" sz="1800" dirty="0"/>
              <a:t>Recall for true ‘EXP’ labeled instances are very good</a:t>
            </a:r>
          </a:p>
          <a:p>
            <a:pPr>
              <a:spcBef>
                <a:spcPts val="1400"/>
              </a:spcBef>
            </a:pPr>
            <a:r>
              <a:rPr lang="en-US" sz="1800" dirty="0"/>
              <a:t>The dataset is heavily weighted towards homes sold; retraining with balanced training data will be necessary</a:t>
            </a:r>
          </a:p>
        </p:txBody>
      </p:sp>
      <p:pic>
        <p:nvPicPr>
          <p:cNvPr id="3" name="Picture 2">
            <a:extLst>
              <a:ext uri="{FF2B5EF4-FFF2-40B4-BE49-F238E27FC236}">
                <a16:creationId xmlns:a16="http://schemas.microsoft.com/office/drawing/2014/main" id="{E2E4CD23-E485-6516-1A76-3C42C4560BA5}"/>
              </a:ext>
            </a:extLst>
          </p:cNvPr>
          <p:cNvPicPr>
            <a:picLocks noChangeAspect="1"/>
          </p:cNvPicPr>
          <p:nvPr/>
        </p:nvPicPr>
        <p:blipFill>
          <a:blip r:embed="rId2"/>
          <a:stretch>
            <a:fillRect/>
          </a:stretch>
        </p:blipFill>
        <p:spPr>
          <a:xfrm>
            <a:off x="944576" y="2729397"/>
            <a:ext cx="4707923" cy="3483864"/>
          </a:xfrm>
          <a:prstGeom prst="rect">
            <a:avLst/>
          </a:prstGeom>
        </p:spPr>
      </p:pic>
      <p:pic>
        <p:nvPicPr>
          <p:cNvPr id="7" name="Picture 6">
            <a:extLst>
              <a:ext uri="{FF2B5EF4-FFF2-40B4-BE49-F238E27FC236}">
                <a16:creationId xmlns:a16="http://schemas.microsoft.com/office/drawing/2014/main" id="{70F98DBF-6023-68E8-5D6C-F4F4C738FCE7}"/>
              </a:ext>
            </a:extLst>
          </p:cNvPr>
          <p:cNvPicPr>
            <a:picLocks noChangeAspect="1"/>
          </p:cNvPicPr>
          <p:nvPr/>
        </p:nvPicPr>
        <p:blipFill>
          <a:blip r:embed="rId3"/>
          <a:stretch>
            <a:fillRect/>
          </a:stretch>
        </p:blipFill>
        <p:spPr>
          <a:xfrm>
            <a:off x="6198781" y="3404851"/>
            <a:ext cx="5523082" cy="2132955"/>
          </a:xfrm>
          <a:prstGeom prst="rect">
            <a:avLst/>
          </a:prstGeom>
        </p:spPr>
      </p:pic>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40</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2459446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Regression Model Evaluation</a:t>
            </a:r>
            <a:endParaRPr lang="en-US" dirty="0">
              <a:solidFill>
                <a:srgbClr val="0B49CB"/>
              </a:solidFill>
            </a:endParaRPr>
          </a:p>
        </p:txBody>
      </p:sp>
      <p:graphicFrame>
        <p:nvGraphicFramePr>
          <p:cNvPr id="8" name="Table 7">
            <a:extLst>
              <a:ext uri="{FF2B5EF4-FFF2-40B4-BE49-F238E27FC236}">
                <a16:creationId xmlns:a16="http://schemas.microsoft.com/office/drawing/2014/main" id="{34478150-3D0D-8796-695F-C81A9CC02AD2}"/>
              </a:ext>
            </a:extLst>
          </p:cNvPr>
          <p:cNvGraphicFramePr>
            <a:graphicFrameLocks noGrp="1"/>
          </p:cNvGraphicFramePr>
          <p:nvPr>
            <p:extLst>
              <p:ext uri="{D42A27DB-BD31-4B8C-83A1-F6EECF244321}">
                <p14:modId xmlns:p14="http://schemas.microsoft.com/office/powerpoint/2010/main" val="462501836"/>
              </p:ext>
            </p:extLst>
          </p:nvPr>
        </p:nvGraphicFramePr>
        <p:xfrm>
          <a:off x="586773" y="1367858"/>
          <a:ext cx="8127999" cy="5273712"/>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20649276"/>
                    </a:ext>
                  </a:extLst>
                </a:gridCol>
                <a:gridCol w="2709333">
                  <a:extLst>
                    <a:ext uri="{9D8B030D-6E8A-4147-A177-3AD203B41FA5}">
                      <a16:colId xmlns:a16="http://schemas.microsoft.com/office/drawing/2014/main" val="137382908"/>
                    </a:ext>
                  </a:extLst>
                </a:gridCol>
                <a:gridCol w="2709333">
                  <a:extLst>
                    <a:ext uri="{9D8B030D-6E8A-4147-A177-3AD203B41FA5}">
                      <a16:colId xmlns:a16="http://schemas.microsoft.com/office/drawing/2014/main" val="2729662231"/>
                    </a:ext>
                  </a:extLst>
                </a:gridCol>
              </a:tblGrid>
              <a:tr h="353874">
                <a:tc>
                  <a:txBody>
                    <a:bodyPr/>
                    <a:lstStyle/>
                    <a:p>
                      <a:pPr algn="ctr"/>
                      <a:r>
                        <a:rPr lang="en-US" dirty="0"/>
                        <a:t>Metrics</a:t>
                      </a:r>
                    </a:p>
                  </a:txBody>
                  <a:tcPr/>
                </a:tc>
                <a:tc>
                  <a:txBody>
                    <a:bodyPr/>
                    <a:lstStyle/>
                    <a:p>
                      <a:pPr algn="ctr"/>
                      <a:r>
                        <a:rPr lang="en-US" dirty="0"/>
                        <a:t>Benchmark</a:t>
                      </a:r>
                    </a:p>
                  </a:txBody>
                  <a:tcPr/>
                </a:tc>
                <a:tc>
                  <a:txBody>
                    <a:bodyPr/>
                    <a:lstStyle/>
                    <a:p>
                      <a:pPr algn="ctr"/>
                      <a:r>
                        <a:rPr lang="en-US" dirty="0"/>
                        <a:t>Model Results</a:t>
                      </a:r>
                    </a:p>
                  </a:txBody>
                  <a:tcPr/>
                </a:tc>
                <a:extLst>
                  <a:ext uri="{0D108BD9-81ED-4DB2-BD59-A6C34878D82A}">
                    <a16:rowId xmlns:a16="http://schemas.microsoft.com/office/drawing/2014/main" val="3750125232"/>
                  </a:ext>
                </a:extLst>
              </a:tr>
              <a:tr h="353874">
                <a:tc>
                  <a:txBody>
                    <a:bodyPr/>
                    <a:lstStyle/>
                    <a:p>
                      <a:pPr algn="ctr"/>
                      <a:r>
                        <a:rPr lang="en-US" dirty="0"/>
                        <a:t>Median Sales Price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t>
                      </a:r>
                    </a:p>
                  </a:txBody>
                  <a:tcPr/>
                </a:tc>
                <a:tc>
                  <a:txBody>
                    <a:bodyPr/>
                    <a:lstStyle/>
                    <a:p>
                      <a:pPr algn="ctr"/>
                      <a:r>
                        <a:rPr lang="en-US" dirty="0"/>
                        <a:t>$600,000</a:t>
                      </a:r>
                    </a:p>
                  </a:txBody>
                  <a:tcPr/>
                </a:tc>
                <a:extLst>
                  <a:ext uri="{0D108BD9-81ED-4DB2-BD59-A6C34878D82A}">
                    <a16:rowId xmlns:a16="http://schemas.microsoft.com/office/drawing/2014/main" val="2331375847"/>
                  </a:ext>
                </a:extLst>
              </a:tr>
              <a:tr h="353874">
                <a:tc>
                  <a:txBody>
                    <a:bodyPr/>
                    <a:lstStyle/>
                    <a:p>
                      <a:pPr algn="ctr"/>
                      <a:r>
                        <a:rPr lang="en-US" sz="1600" dirty="0"/>
                        <a:t>R2 Score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0.95 or greater</a:t>
                      </a:r>
                    </a:p>
                  </a:txBody>
                  <a:tcPr/>
                </a:tc>
                <a:tc>
                  <a:txBody>
                    <a:bodyPr/>
                    <a:lstStyle/>
                    <a:p>
                      <a:pPr algn="ctr"/>
                      <a:r>
                        <a:rPr lang="en-US" sz="1600" dirty="0"/>
                        <a:t>0.968</a:t>
                      </a:r>
                    </a:p>
                  </a:txBody>
                  <a:tcPr/>
                </a:tc>
                <a:extLst>
                  <a:ext uri="{0D108BD9-81ED-4DB2-BD59-A6C34878D82A}">
                    <a16:rowId xmlns:a16="http://schemas.microsoft.com/office/drawing/2014/main" val="2010719025"/>
                  </a:ext>
                </a:extLst>
              </a:tr>
              <a:tr h="1134336">
                <a:tc>
                  <a:txBody>
                    <a:bodyPr/>
                    <a:lstStyle/>
                    <a:p>
                      <a:pPr algn="ctr"/>
                      <a:r>
                        <a:rPr lang="en-US" sz="1600" dirty="0"/>
                        <a:t>Mean Absolute Error (MAE)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A value between 5-10% of the median target value is considered good</a:t>
                      </a:r>
                    </a:p>
                    <a:p>
                      <a:pPr algn="ctr"/>
                      <a:endParaRPr lang="en-US" sz="1600" dirty="0"/>
                    </a:p>
                  </a:txBody>
                  <a:tcPr/>
                </a:tc>
                <a:tc>
                  <a:txBody>
                    <a:bodyPr/>
                    <a:lstStyle/>
                    <a:p>
                      <a:pPr algn="ctr"/>
                      <a:r>
                        <a:rPr lang="en-US" sz="1600" dirty="0"/>
                        <a:t>$ 39,434.81</a:t>
                      </a:r>
                    </a:p>
                  </a:txBody>
                  <a:tcPr/>
                </a:tc>
                <a:extLst>
                  <a:ext uri="{0D108BD9-81ED-4DB2-BD59-A6C34878D82A}">
                    <a16:rowId xmlns:a16="http://schemas.microsoft.com/office/drawing/2014/main" val="2333986815"/>
                  </a:ext>
                </a:extLst>
              </a:tr>
              <a:tr h="1919646">
                <a:tc>
                  <a:txBody>
                    <a:bodyPr/>
                    <a:lstStyle/>
                    <a:p>
                      <a:pPr algn="ctr"/>
                      <a:r>
                        <a:rPr lang="en-US" sz="1600" dirty="0"/>
                        <a:t>Root Mean Squared Error</a:t>
                      </a:r>
                    </a:p>
                    <a:p>
                      <a:pPr algn="ctr"/>
                      <a:r>
                        <a:rPr lang="en-US" sz="1600" dirty="0"/>
                        <a:t> </a:t>
                      </a:r>
                    </a:p>
                    <a:p>
                      <a:pPr algn="ctr"/>
                      <a:endParaRPr lang="en-US" sz="1600" dirty="0"/>
                    </a:p>
                    <a:p>
                      <a:pPr algn="ctr"/>
                      <a:endParaRPr lang="en-US" sz="1600" dirty="0"/>
                    </a:p>
                    <a:p>
                      <a:pPr algn="ctr"/>
                      <a:r>
                        <a:rPr lang="en-US" sz="1600" dirty="0"/>
                        <a:t>(Normalized RMSE) </a:t>
                      </a:r>
                      <a:r>
                        <a:rPr lang="en-US" sz="1600" baseline="30000" dirty="0">
                          <a:hlinkClick r:id="rId3" action="ppaction://hlinksldjump"/>
                        </a:rPr>
                        <a:t>(1)</a:t>
                      </a:r>
                      <a:endParaRPr lang="en-US" sz="1600" baseline="30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A value between 5-10% of the median target value is considered good</a:t>
                      </a:r>
                    </a:p>
                    <a:p>
                      <a:pPr algn="ctr"/>
                      <a:endParaRPr lang="en-US" sz="1600" dirty="0"/>
                    </a:p>
                    <a:p>
                      <a:pPr algn="ctr"/>
                      <a:r>
                        <a:rPr lang="en-US" sz="1600" dirty="0"/>
                        <a:t>Range: 0 – 1.</a:t>
                      </a:r>
                    </a:p>
                    <a:p>
                      <a:pPr algn="ctr"/>
                      <a:r>
                        <a:rPr lang="en-US" sz="1600" dirty="0"/>
                        <a:t>Values closure to 0 represents a better model</a:t>
                      </a:r>
                    </a:p>
                  </a:txBody>
                  <a:tcPr/>
                </a:tc>
                <a:tc>
                  <a:txBody>
                    <a:bodyPr/>
                    <a:lstStyle/>
                    <a:p>
                      <a:pPr algn="ctr"/>
                      <a:r>
                        <a:rPr lang="en-US" sz="1600" dirty="0"/>
                        <a:t>$70,555.21</a:t>
                      </a:r>
                    </a:p>
                    <a:p>
                      <a:pPr algn="ctr"/>
                      <a:endParaRPr lang="en-US" sz="1600" dirty="0"/>
                    </a:p>
                    <a:p>
                      <a:pPr algn="ctr"/>
                      <a:endParaRPr lang="en-US" sz="1600" dirty="0"/>
                    </a:p>
                    <a:p>
                      <a:pPr algn="ctr"/>
                      <a:endParaRPr lang="en-US" sz="1600" dirty="0"/>
                    </a:p>
                    <a:p>
                      <a:pPr algn="ctr"/>
                      <a:r>
                        <a:rPr lang="en-US" sz="1600" dirty="0"/>
                        <a:t>(0.17)</a:t>
                      </a:r>
                    </a:p>
                  </a:txBody>
                  <a:tcPr/>
                </a:tc>
                <a:extLst>
                  <a:ext uri="{0D108BD9-81ED-4DB2-BD59-A6C34878D82A}">
                    <a16:rowId xmlns:a16="http://schemas.microsoft.com/office/drawing/2014/main" val="2757432370"/>
                  </a:ext>
                </a:extLst>
              </a:tr>
              <a:tr h="1134336">
                <a:tc>
                  <a:txBody>
                    <a:bodyPr/>
                    <a:lstStyle/>
                    <a:p>
                      <a:pPr algn="ctr"/>
                      <a:r>
                        <a:rPr lang="en-US" sz="1600" dirty="0"/>
                        <a:t>Mean Absolute Percentage Error (MAPE) </a:t>
                      </a:r>
                      <a:r>
                        <a:rPr lang="en-US" sz="1600" baseline="30000" dirty="0">
                          <a:hlinkClick r:id="rId3" action="ppaction://hlinksldjump"/>
                        </a:rPr>
                        <a:t>(2)</a:t>
                      </a:r>
                      <a:endParaRPr lang="en-US" sz="1600" baseline="30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A value between 5-20% of the median target value is considered good</a:t>
                      </a:r>
                    </a:p>
                    <a:p>
                      <a:pPr algn="ctr"/>
                      <a:endParaRPr lang="en-US" sz="1600" dirty="0"/>
                    </a:p>
                  </a:txBody>
                  <a:tcPr/>
                </a:tc>
                <a:tc>
                  <a:txBody>
                    <a:bodyPr/>
                    <a:lstStyle/>
                    <a:p>
                      <a:pPr algn="ctr"/>
                      <a:r>
                        <a:rPr lang="en-US" sz="1600" dirty="0"/>
                        <a:t>5.27%</a:t>
                      </a:r>
                    </a:p>
                  </a:txBody>
                  <a:tcPr/>
                </a:tc>
                <a:extLst>
                  <a:ext uri="{0D108BD9-81ED-4DB2-BD59-A6C34878D82A}">
                    <a16:rowId xmlns:a16="http://schemas.microsoft.com/office/drawing/2014/main" val="1170402998"/>
                  </a:ext>
                </a:extLst>
              </a:tr>
            </a:tbl>
          </a:graphicData>
        </a:graphic>
      </p:graphicFrame>
      <p:sp>
        <p:nvSpPr>
          <p:cNvPr id="5" name="TextBox 4">
            <a:extLst>
              <a:ext uri="{FF2B5EF4-FFF2-40B4-BE49-F238E27FC236}">
                <a16:creationId xmlns:a16="http://schemas.microsoft.com/office/drawing/2014/main" id="{C8BEBC31-918E-FE48-84C9-84681A0FB0F3}"/>
              </a:ext>
            </a:extLst>
          </p:cNvPr>
          <p:cNvSpPr txBox="1"/>
          <p:nvPr/>
        </p:nvSpPr>
        <p:spPr>
          <a:xfrm>
            <a:off x="8926286" y="1571569"/>
            <a:ext cx="2895600" cy="4524315"/>
          </a:xfrm>
          <a:prstGeom prst="rect">
            <a:avLst/>
          </a:prstGeom>
          <a:noFill/>
        </p:spPr>
        <p:txBody>
          <a:bodyPr wrap="square" rtlCol="0">
            <a:spAutoFit/>
          </a:bodyPr>
          <a:lstStyle/>
          <a:p>
            <a:pPr marL="171450" indent="-171450">
              <a:buFont typeface="Arial" panose="020B0604020202020204" pitchFamily="34" charset="0"/>
              <a:buChar char="•"/>
            </a:pPr>
            <a:r>
              <a:rPr lang="en-US" sz="1600" dirty="0"/>
              <a:t>Coefficient of determination meet the criteria for a good predictor. This metric will be monitored as new data is acquired</a:t>
            </a:r>
          </a:p>
          <a:p>
            <a:pPr marL="171450" indent="-171450">
              <a:buFont typeface="Arial" panose="020B0604020202020204" pitchFamily="34" charset="0"/>
              <a:buChar char="•"/>
            </a:pPr>
            <a:endParaRPr lang="en-US" sz="1600" dirty="0"/>
          </a:p>
          <a:p>
            <a:pPr marL="171450" indent="-171450">
              <a:buFont typeface="Arial" panose="020B0604020202020204" pitchFamily="34" charset="0"/>
              <a:buChar char="•"/>
            </a:pPr>
            <a:r>
              <a:rPr lang="en-US" sz="1600" dirty="0"/>
              <a:t>The MAE and RMSE are </a:t>
            </a:r>
            <a:r>
              <a:rPr lang="en-US" sz="1600" dirty="0">
                <a:solidFill>
                  <a:srgbClr val="FF0000"/>
                </a:solidFill>
              </a:rPr>
              <a:t>6.57%</a:t>
            </a:r>
            <a:r>
              <a:rPr lang="en-US" sz="1600" dirty="0"/>
              <a:t> and </a:t>
            </a:r>
            <a:r>
              <a:rPr lang="en-US" sz="1600" dirty="0">
                <a:solidFill>
                  <a:srgbClr val="FF0000"/>
                </a:solidFill>
              </a:rPr>
              <a:t>11.76%</a:t>
            </a:r>
            <a:r>
              <a:rPr lang="en-US" sz="1600" dirty="0"/>
              <a:t> of the median target value, respectively. The MAE meets the benchmark criteria, however, the RMSE still shows outliers still present an issue. </a:t>
            </a:r>
          </a:p>
          <a:p>
            <a:pPr marL="171450" indent="-171450">
              <a:buFont typeface="Arial" panose="020B0604020202020204" pitchFamily="34" charset="0"/>
              <a:buChar char="•"/>
            </a:pPr>
            <a:endParaRPr lang="en-US" sz="1600" dirty="0"/>
          </a:p>
          <a:p>
            <a:pPr marL="171450" indent="-171450">
              <a:buFont typeface="Arial" panose="020B0604020202020204" pitchFamily="34" charset="0"/>
              <a:buChar char="•"/>
            </a:pPr>
            <a:r>
              <a:rPr lang="en-US" sz="1600" dirty="0"/>
              <a:t>The MAPE meets the benchmark criteria and shows that the model can be relied upon for its predictions</a:t>
            </a:r>
          </a:p>
        </p:txBody>
      </p:sp>
    </p:spTree>
    <p:extLst>
      <p:ext uri="{BB962C8B-B14F-4D97-AF65-F5344CB8AC3E}">
        <p14:creationId xmlns:p14="http://schemas.microsoft.com/office/powerpoint/2010/main" val="3645034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09" y="1537597"/>
            <a:ext cx="10409619" cy="4351338"/>
          </a:xfrm>
          <a:prstGeom prst="rect">
            <a:avLst/>
          </a:prstGeom>
        </p:spPr>
        <p:txBody>
          <a:bodyPr>
            <a:normAutofit fontScale="77500" lnSpcReduction="20000"/>
          </a:bodyPr>
          <a:lstStyle/>
          <a:p>
            <a:pPr>
              <a:lnSpc>
                <a:spcPct val="100000"/>
              </a:lnSpc>
              <a:spcBef>
                <a:spcPts val="1400"/>
              </a:spcBef>
            </a:pPr>
            <a:r>
              <a:rPr lang="en-US" sz="2000" dirty="0">
                <a:solidFill>
                  <a:schemeClr val="accent3">
                    <a:lumMod val="25000"/>
                  </a:schemeClr>
                </a:solidFill>
                <a:latin typeface="Abadi" panose="020B0604020104020204" pitchFamily="34" charset="0"/>
              </a:rPr>
              <a:t>The regression DNN captures the 96.8% of the sales price variance from the available data</a:t>
            </a:r>
          </a:p>
          <a:p>
            <a:pPr>
              <a:lnSpc>
                <a:spcPct val="100000"/>
              </a:lnSpc>
              <a:spcBef>
                <a:spcPts val="1400"/>
              </a:spcBef>
            </a:pPr>
            <a:r>
              <a:rPr lang="en-US" sz="2000" dirty="0">
                <a:solidFill>
                  <a:schemeClr val="accent3">
                    <a:lumMod val="25000"/>
                  </a:schemeClr>
                </a:solidFill>
                <a:latin typeface="Abadi" panose="020B0604020104020204" pitchFamily="34" charset="0"/>
              </a:rPr>
              <a:t>The classification DNN has an F1 Score of 85%</a:t>
            </a:r>
          </a:p>
          <a:p>
            <a:pPr>
              <a:lnSpc>
                <a:spcPct val="100000"/>
              </a:lnSpc>
              <a:spcBef>
                <a:spcPts val="1400"/>
              </a:spcBef>
            </a:pPr>
            <a:r>
              <a:rPr lang="en-US" sz="2000" dirty="0">
                <a:solidFill>
                  <a:schemeClr val="accent3">
                    <a:lumMod val="25000"/>
                  </a:schemeClr>
                </a:solidFill>
                <a:latin typeface="Abadi" panose="020B0604020104020204" pitchFamily="34" charset="0"/>
              </a:rPr>
              <a:t>More training data needs to be acquired to improve both models, but especially for the classification. There are still some features needed to help distinguish between a property which is sold/not sold</a:t>
            </a:r>
          </a:p>
          <a:p>
            <a:pPr>
              <a:lnSpc>
                <a:spcPct val="100000"/>
              </a:lnSpc>
              <a:spcBef>
                <a:spcPts val="1400"/>
              </a:spcBef>
            </a:pPr>
            <a:r>
              <a:rPr lang="en-US" sz="2000" dirty="0">
                <a:solidFill>
                  <a:schemeClr val="accent3">
                    <a:lumMod val="25000"/>
                  </a:schemeClr>
                </a:solidFill>
                <a:latin typeface="Abadi" panose="020B0604020104020204" pitchFamily="34" charset="0"/>
              </a:rPr>
              <a:t>Collected data is concentrated in the Northen and Central municipalities. Access to data for South Jersey is necessary for better model generalization and improvement</a:t>
            </a:r>
          </a:p>
          <a:p>
            <a:pPr>
              <a:lnSpc>
                <a:spcPct val="100000"/>
              </a:lnSpc>
              <a:spcBef>
                <a:spcPts val="1400"/>
              </a:spcBef>
            </a:pPr>
            <a:r>
              <a:rPr lang="en-US" sz="2000" dirty="0">
                <a:solidFill>
                  <a:schemeClr val="accent3">
                    <a:lumMod val="25000"/>
                  </a:schemeClr>
                </a:solidFill>
                <a:latin typeface="Abadi" panose="020B0604020104020204" pitchFamily="34" charset="0"/>
              </a:rPr>
              <a:t>Home prices continue to rise YoY while total numbers of home sales continue to decline</a:t>
            </a:r>
          </a:p>
          <a:p>
            <a:pPr>
              <a:lnSpc>
                <a:spcPct val="100000"/>
              </a:lnSpc>
              <a:spcBef>
                <a:spcPts val="1400"/>
              </a:spcBef>
            </a:pPr>
            <a:r>
              <a:rPr lang="en-US" sz="2000" dirty="0">
                <a:solidFill>
                  <a:schemeClr val="accent3">
                    <a:lumMod val="25000"/>
                  </a:schemeClr>
                </a:solidFill>
                <a:latin typeface="Abadi" panose="020B0604020104020204" pitchFamily="34" charset="0"/>
              </a:rPr>
              <a:t>The median days a property spend on the market before being sold hasn’t been above 30 days since 2021. This signifies heavy buyer demand for homes.</a:t>
            </a:r>
          </a:p>
          <a:p>
            <a:pPr>
              <a:lnSpc>
                <a:spcPct val="100000"/>
              </a:lnSpc>
              <a:spcBef>
                <a:spcPts val="1400"/>
              </a:spcBef>
            </a:pPr>
            <a:r>
              <a:rPr lang="en-US" sz="2000" dirty="0">
                <a:solidFill>
                  <a:schemeClr val="accent3">
                    <a:lumMod val="25000"/>
                  </a:schemeClr>
                </a:solidFill>
                <a:latin typeface="Abadi" panose="020B0604020104020204" pitchFamily="34" charset="0"/>
              </a:rPr>
              <a:t>Bank foreclosures have steadily increased since the COVID mortgage moratorium ended in 2021 but has plateaued in 2023 - 2024</a:t>
            </a:r>
          </a:p>
          <a:p>
            <a:pPr>
              <a:lnSpc>
                <a:spcPct val="100000"/>
              </a:lnSpc>
              <a:spcBef>
                <a:spcPts val="1400"/>
              </a:spcBef>
            </a:pPr>
            <a:r>
              <a:rPr lang="en-US" sz="2000" dirty="0">
                <a:solidFill>
                  <a:schemeClr val="accent3">
                    <a:lumMod val="25000"/>
                  </a:schemeClr>
                </a:solidFill>
                <a:latin typeface="Abadi" panose="020B0604020104020204" pitchFamily="34" charset="0"/>
              </a:rPr>
              <a:t>Properties bought by investors in NJ peaked in 2019 and have declined since</a:t>
            </a:r>
          </a:p>
          <a:p>
            <a:pPr>
              <a:lnSpc>
                <a:spcPct val="100000"/>
              </a:lnSpc>
              <a:spcBef>
                <a:spcPts val="1400"/>
              </a:spcBef>
            </a:pPr>
            <a:r>
              <a:rPr lang="en-US" sz="2000" dirty="0">
                <a:solidFill>
                  <a:schemeClr val="accent3">
                    <a:lumMod val="25000"/>
                  </a:schemeClr>
                </a:solidFill>
                <a:latin typeface="Abadi" panose="020B0604020104020204" pitchFamily="34" charset="0"/>
              </a:rPr>
              <a:t>Homes built in the 1950s and 1980s dominate the existing homes market. There has been a lack of new construction homes built since the early 2000s</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DC7AE75-4BAE-D440-86FE-7AE169D540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EAFE21-900F-D092-E860-170ADD68046B}"/>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3">
            <a:extLst>
              <a:ext uri="{FF2B5EF4-FFF2-40B4-BE49-F238E27FC236}">
                <a16:creationId xmlns:a16="http://schemas.microsoft.com/office/drawing/2014/main" id="{397EC54B-CAD1-8E1D-5F78-34CF19FB4B63}"/>
              </a:ext>
            </a:extLst>
          </p:cNvPr>
          <p:cNvSpPr>
            <a:spLocks noGrp="1"/>
          </p:cNvSpPr>
          <p:nvPr>
            <p:ph sz="half" idx="4294967295"/>
          </p:nvPr>
        </p:nvSpPr>
        <p:spPr>
          <a:xfrm>
            <a:off x="770009" y="1537597"/>
            <a:ext cx="10409619" cy="4351338"/>
          </a:xfrm>
          <a:prstGeom prst="rect">
            <a:avLst/>
          </a:prstGeom>
        </p:spPr>
        <p:txBody>
          <a:bodyPr>
            <a:normAutofit/>
          </a:bodyPr>
          <a:lstStyle/>
          <a:p>
            <a:pPr>
              <a:lnSpc>
                <a:spcPct val="100000"/>
              </a:lnSpc>
              <a:spcBef>
                <a:spcPts val="1400"/>
              </a:spcBef>
            </a:pPr>
            <a:r>
              <a:rPr lang="en-US" sz="2000" dirty="0">
                <a:solidFill>
                  <a:schemeClr val="accent3">
                    <a:lumMod val="25000"/>
                  </a:schemeClr>
                </a:solidFill>
                <a:latin typeface="Abadi" panose="020B0604020104020204" pitchFamily="34" charset="0"/>
              </a:rPr>
              <a:t>Train a multi-classification CNN to label real estate images for the property’s quality/condition and the area/section of the house </a:t>
            </a:r>
          </a:p>
          <a:p>
            <a:pPr>
              <a:lnSpc>
                <a:spcPct val="100000"/>
              </a:lnSpc>
              <a:spcBef>
                <a:spcPts val="1400"/>
              </a:spcBef>
            </a:pPr>
            <a:r>
              <a:rPr lang="en-US" sz="2000" dirty="0">
                <a:solidFill>
                  <a:schemeClr val="accent3">
                    <a:lumMod val="25000"/>
                  </a:schemeClr>
                </a:solidFill>
                <a:latin typeface="Abadi" panose="020B0604020104020204" pitchFamily="34" charset="0"/>
              </a:rPr>
              <a:t>Change the “Unknown” value of a property’s “Condition” to the predicted classification label</a:t>
            </a:r>
          </a:p>
          <a:p>
            <a:pPr>
              <a:lnSpc>
                <a:spcPct val="100000"/>
              </a:lnSpc>
              <a:spcBef>
                <a:spcPts val="1400"/>
              </a:spcBef>
            </a:pPr>
            <a:r>
              <a:rPr lang="en-US" sz="2000" dirty="0">
                <a:solidFill>
                  <a:schemeClr val="accent3">
                    <a:lumMod val="25000"/>
                  </a:schemeClr>
                </a:solidFill>
                <a:latin typeface="Abadi" panose="020B0604020104020204" pitchFamily="34" charset="0"/>
              </a:rPr>
              <a:t>Retrain the classification network now using “Condition” as a feature</a:t>
            </a:r>
          </a:p>
          <a:p>
            <a:pPr>
              <a:lnSpc>
                <a:spcPct val="100000"/>
              </a:lnSpc>
              <a:spcBef>
                <a:spcPts val="1400"/>
              </a:spcBef>
            </a:pPr>
            <a:r>
              <a:rPr lang="en-US" sz="2000" dirty="0">
                <a:solidFill>
                  <a:schemeClr val="accent3">
                    <a:lumMod val="25000"/>
                  </a:schemeClr>
                </a:solidFill>
                <a:latin typeface="Abadi" panose="020B0604020104020204" pitchFamily="34" charset="0"/>
              </a:rPr>
              <a:t>Use sentiment analysis on a property’s listing remarks also understand the condition of the house</a:t>
            </a:r>
          </a:p>
          <a:p>
            <a:pPr lvl="1">
              <a:lnSpc>
                <a:spcPct val="100000"/>
              </a:lnSpc>
              <a:spcBef>
                <a:spcPts val="1400"/>
              </a:spcBef>
            </a:pPr>
            <a:r>
              <a:rPr lang="en-US" sz="1600" dirty="0">
                <a:solidFill>
                  <a:schemeClr val="accent3">
                    <a:lumMod val="25000"/>
                  </a:schemeClr>
                </a:solidFill>
                <a:latin typeface="Abadi" panose="020B0604020104020204" pitchFamily="34" charset="0"/>
              </a:rPr>
              <a:t>Do an analysis of the results of the visual prediction vs the sentiment prediction. Which one more accurately depicts the quality of the house? Can I use the sentiment prediction as a regularization (of some sort) for the image quality prediction?</a:t>
            </a:r>
          </a:p>
          <a:p>
            <a:pPr>
              <a:lnSpc>
                <a:spcPct val="100000"/>
              </a:lnSpc>
              <a:spcBef>
                <a:spcPts val="1400"/>
              </a:spcBef>
            </a:pPr>
            <a:r>
              <a:rPr lang="en-US" sz="2000" dirty="0">
                <a:solidFill>
                  <a:schemeClr val="accent3">
                    <a:lumMod val="25000"/>
                  </a:schemeClr>
                </a:solidFill>
                <a:latin typeface="Abadi" panose="020B0604020104020204" pitchFamily="34" charset="0"/>
              </a:rPr>
              <a:t>Create dashboard to monitor the results of the neural networks and keep track of each iteration and change log of the retraining/updates</a:t>
            </a:r>
          </a:p>
        </p:txBody>
      </p:sp>
      <p:sp>
        <p:nvSpPr>
          <p:cNvPr id="9" name="Title 1">
            <a:extLst>
              <a:ext uri="{FF2B5EF4-FFF2-40B4-BE49-F238E27FC236}">
                <a16:creationId xmlns:a16="http://schemas.microsoft.com/office/drawing/2014/main" id="{90AFE2EE-E49F-B31C-31D1-89A57A3A7A7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Next Steps</a:t>
            </a:r>
            <a:endParaRPr lang="en-US" dirty="0">
              <a:solidFill>
                <a:srgbClr val="0B49CB"/>
              </a:solidFill>
            </a:endParaRPr>
          </a:p>
        </p:txBody>
      </p:sp>
    </p:spTree>
    <p:extLst>
      <p:ext uri="{BB962C8B-B14F-4D97-AF65-F5344CB8AC3E}">
        <p14:creationId xmlns:p14="http://schemas.microsoft.com/office/powerpoint/2010/main" val="4814342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7824EE1F-2B6C-D57A-619C-A8996370583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C0F8D2-BB6A-A726-88F8-1FF4AD566C3F}"/>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3">
            <a:extLst>
              <a:ext uri="{FF2B5EF4-FFF2-40B4-BE49-F238E27FC236}">
                <a16:creationId xmlns:a16="http://schemas.microsoft.com/office/drawing/2014/main" id="{E0BE38BA-A990-9660-3FA5-D091E037356E}"/>
              </a:ext>
            </a:extLst>
          </p:cNvPr>
          <p:cNvSpPr>
            <a:spLocks noGrp="1"/>
          </p:cNvSpPr>
          <p:nvPr>
            <p:ph sz="half" idx="4294967295"/>
          </p:nvPr>
        </p:nvSpPr>
        <p:spPr>
          <a:xfrm>
            <a:off x="770009" y="1537597"/>
            <a:ext cx="10409619" cy="4351338"/>
          </a:xfrm>
          <a:prstGeom prst="rect">
            <a:avLst/>
          </a:prstGeom>
        </p:spPr>
        <p:txBody>
          <a:bodyPr>
            <a:normAutofit/>
          </a:bodyPr>
          <a:lstStyle/>
          <a:p>
            <a:pPr>
              <a:lnSpc>
                <a:spcPct val="100000"/>
              </a:lnSpc>
              <a:spcBef>
                <a:spcPts val="1400"/>
              </a:spcBef>
            </a:pPr>
            <a:r>
              <a:rPr lang="en-US" sz="2000" dirty="0">
                <a:solidFill>
                  <a:schemeClr val="accent3">
                    <a:lumMod val="25000"/>
                  </a:schemeClr>
                </a:solidFill>
                <a:latin typeface="Abadi" panose="020B0604020104020204" pitchFamily="34" charset="0"/>
              </a:rPr>
              <a:t>(1) </a:t>
            </a:r>
            <a:r>
              <a:rPr lang="en-US" sz="2000" dirty="0">
                <a:solidFill>
                  <a:schemeClr val="accent3">
                    <a:lumMod val="25000"/>
                  </a:schemeClr>
                </a:solidFill>
                <a:latin typeface="Abadi" panose="020B0604020104020204" pitchFamily="34" charset="0"/>
                <a:hlinkClick r:id="rId3"/>
              </a:rPr>
              <a:t>https://www.statology.org/what-is-a-good-rmse/</a:t>
            </a:r>
            <a:endParaRPr lang="en-US" sz="2000" dirty="0">
              <a:solidFill>
                <a:schemeClr val="accent3">
                  <a:lumMod val="25000"/>
                </a:schemeClr>
              </a:solidFill>
              <a:latin typeface="Abadi" panose="020B0604020104020204" pitchFamily="34" charset="0"/>
            </a:endParaRPr>
          </a:p>
          <a:p>
            <a:pPr>
              <a:lnSpc>
                <a:spcPct val="100000"/>
              </a:lnSpc>
              <a:spcBef>
                <a:spcPts val="1400"/>
              </a:spcBef>
            </a:pPr>
            <a:r>
              <a:rPr lang="en-US" sz="2000" dirty="0">
                <a:solidFill>
                  <a:schemeClr val="accent3">
                    <a:lumMod val="25000"/>
                  </a:schemeClr>
                </a:solidFill>
                <a:latin typeface="Abadi" panose="020B0604020104020204" pitchFamily="34" charset="0"/>
              </a:rPr>
              <a:t>(2) </a:t>
            </a:r>
            <a:r>
              <a:rPr lang="en-US" sz="2000" dirty="0">
                <a:solidFill>
                  <a:schemeClr val="accent3">
                    <a:lumMod val="25000"/>
                  </a:schemeClr>
                </a:solidFill>
                <a:latin typeface="Abadi" panose="020B0604020104020204" pitchFamily="34" charset="0"/>
                <a:hlinkClick r:id="rId4"/>
              </a:rPr>
              <a:t>https://www.statology.org/how-to-interpret-mape/</a:t>
            </a:r>
            <a:endParaRPr lang="en-US" sz="20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6F4BC93B-5362-9508-B7E5-8ADD64628C2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3349005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21220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17551"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3" name="Picture 2" descr="A street with cars parked on the side&#10;&#10;AI-generated content may be incorrect.">
            <a:extLst>
              <a:ext uri="{FF2B5EF4-FFF2-40B4-BE49-F238E27FC236}">
                <a16:creationId xmlns:a16="http://schemas.microsoft.com/office/drawing/2014/main" id="{134DB904-D93B-A4DD-3430-16B857107EC0}"/>
              </a:ext>
            </a:extLst>
          </p:cNvPr>
          <p:cNvPicPr>
            <a:picLocks noChangeAspect="1"/>
          </p:cNvPicPr>
          <p:nvPr/>
        </p:nvPicPr>
        <p:blipFill>
          <a:blip r:embed="rId3"/>
          <a:srcRect l="9131" r="14999" b="1"/>
          <a:stretch>
            <a:fillRect/>
          </a:stretch>
        </p:blipFill>
        <p:spPr>
          <a:xfrm>
            <a:off x="2644776" y="10"/>
            <a:ext cx="9547224" cy="6857990"/>
          </a:xfrm>
          <a:custGeom>
            <a:avLst/>
            <a:gdLst/>
            <a:ahLst/>
            <a:cxnLst/>
            <a:rect l="l" t="t" r="r" b="b"/>
            <a:pathLst>
              <a:path w="9547224" h="6858000">
                <a:moveTo>
                  <a:pt x="1623023" y="0"/>
                </a:moveTo>
                <a:lnTo>
                  <a:pt x="2716256" y="0"/>
                </a:lnTo>
                <a:lnTo>
                  <a:pt x="3032455" y="0"/>
                </a:lnTo>
                <a:lnTo>
                  <a:pt x="3496422" y="0"/>
                </a:lnTo>
                <a:lnTo>
                  <a:pt x="5205951" y="0"/>
                </a:lnTo>
                <a:lnTo>
                  <a:pt x="9547224" y="0"/>
                </a:lnTo>
                <a:lnTo>
                  <a:pt x="9547224" y="6858000"/>
                </a:lnTo>
                <a:lnTo>
                  <a:pt x="5205951" y="6858000"/>
                </a:lnTo>
                <a:lnTo>
                  <a:pt x="3496422" y="6858000"/>
                </a:lnTo>
                <a:lnTo>
                  <a:pt x="3032455"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
        <p:nvSpPr>
          <p:cNvPr id="14" name="Freeform: Shape 13">
            <a:extLst>
              <a:ext uri="{FF2B5EF4-FFF2-40B4-BE49-F238E27FC236}">
                <a16:creationId xmlns:a16="http://schemas.microsoft.com/office/drawing/2014/main" id="{B1F9B6B4-B0C4-45C6-A086-901C960D0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4774" y="0"/>
            <a:ext cx="2756893" cy="6858000"/>
          </a:xfrm>
          <a:custGeom>
            <a:avLst/>
            <a:gdLst>
              <a:gd name="connsiteX0" fmla="*/ 1133870 w 2756893"/>
              <a:gd name="connsiteY0" fmla="*/ 0 h 6858000"/>
              <a:gd name="connsiteX1" fmla="*/ 898082 w 2756893"/>
              <a:gd name="connsiteY1" fmla="*/ 0 h 6858000"/>
              <a:gd name="connsiteX2" fmla="*/ 920668 w 2756893"/>
              <a:gd name="connsiteY2" fmla="*/ 14997 h 6858000"/>
              <a:gd name="connsiteX3" fmla="*/ 2554961 w 2756893"/>
              <a:gd name="connsiteY3" fmla="*/ 3621656 h 6858000"/>
              <a:gd name="connsiteX4" fmla="*/ 641513 w 2756893"/>
              <a:gd name="connsiteY4" fmla="*/ 6374814 h 6858000"/>
              <a:gd name="connsiteX5" fmla="*/ 114086 w 2756893"/>
              <a:gd name="connsiteY5" fmla="*/ 6780599 h 6858000"/>
              <a:gd name="connsiteX6" fmla="*/ 0 w 2756893"/>
              <a:gd name="connsiteY6" fmla="*/ 6858000 h 6858000"/>
              <a:gd name="connsiteX7" fmla="*/ 40637 w 2756893"/>
              <a:gd name="connsiteY7" fmla="*/ 6858000 h 6858000"/>
              <a:gd name="connsiteX8" fmla="*/ 254139 w 2756893"/>
              <a:gd name="connsiteY8" fmla="*/ 6858000 h 6858000"/>
              <a:gd name="connsiteX9" fmla="*/ 365895 w 2756893"/>
              <a:gd name="connsiteY9" fmla="*/ 6780599 h 6858000"/>
              <a:gd name="connsiteX10" fmla="*/ 882543 w 2756893"/>
              <a:gd name="connsiteY10" fmla="*/ 6374814 h 6858000"/>
              <a:gd name="connsiteX11" fmla="*/ 2756893 w 2756893"/>
              <a:gd name="connsiteY11" fmla="*/ 3621656 h 6858000"/>
              <a:gd name="connsiteX12" fmla="*/ 1155994 w 2756893"/>
              <a:gd name="connsiteY12"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6893" h="6858000">
                <a:moveTo>
                  <a:pt x="1133870" y="0"/>
                </a:moveTo>
                <a:lnTo>
                  <a:pt x="898082" y="0"/>
                </a:lnTo>
                <a:lnTo>
                  <a:pt x="920668" y="14997"/>
                </a:lnTo>
                <a:cubicBezTo>
                  <a:pt x="1969257" y="754641"/>
                  <a:pt x="2554961" y="2093192"/>
                  <a:pt x="2554961" y="3621656"/>
                </a:cubicBezTo>
                <a:cubicBezTo>
                  <a:pt x="2554961" y="4969131"/>
                  <a:pt x="1606863" y="5602839"/>
                  <a:pt x="641513" y="6374814"/>
                </a:cubicBezTo>
                <a:cubicBezTo>
                  <a:pt x="465717" y="6515397"/>
                  <a:pt x="291531" y="6653108"/>
                  <a:pt x="114086" y="6780599"/>
                </a:cubicBezTo>
                <a:lnTo>
                  <a:pt x="0" y="6858000"/>
                </a:lnTo>
                <a:lnTo>
                  <a:pt x="40637" y="6858000"/>
                </a:lnTo>
                <a:lnTo>
                  <a:pt x="254139" y="6858000"/>
                </a:lnTo>
                <a:lnTo>
                  <a:pt x="365895" y="6780599"/>
                </a:lnTo>
                <a:cubicBezTo>
                  <a:pt x="539713" y="6653108"/>
                  <a:pt x="710340" y="6515397"/>
                  <a:pt x="882543" y="6374814"/>
                </a:cubicBezTo>
                <a:cubicBezTo>
                  <a:pt x="1828168" y="5602839"/>
                  <a:pt x="2756893" y="4969131"/>
                  <a:pt x="2756893" y="3621656"/>
                </a:cubicBezTo>
                <a:cubicBezTo>
                  <a:pt x="2756893" y="2093192"/>
                  <a:pt x="2183157" y="754641"/>
                  <a:pt x="1155994" y="1499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a:extLst>
              <a:ext uri="{FF2B5EF4-FFF2-40B4-BE49-F238E27FC236}">
                <a16:creationId xmlns:a16="http://schemas.microsoft.com/office/drawing/2014/main" id="{66777340-07FF-D8CB-3739-2BB41F7D3E42}"/>
              </a:ext>
            </a:extLst>
          </p:cNvPr>
          <p:cNvSpPr txBox="1"/>
          <p:nvPr/>
        </p:nvSpPr>
        <p:spPr>
          <a:xfrm>
            <a:off x="261760" y="5909769"/>
            <a:ext cx="3136007" cy="1107996"/>
          </a:xfrm>
          <a:prstGeom prst="rect">
            <a:avLst/>
          </a:prstGeom>
          <a:noFill/>
        </p:spPr>
        <p:txBody>
          <a:bodyPr wrap="square" rtlCol="0">
            <a:spAutoFit/>
          </a:bodyPr>
          <a:lstStyle/>
          <a:p>
            <a:pPr algn="ctr"/>
            <a:r>
              <a:rPr lang="en-US" sz="4800" b="1" dirty="0"/>
              <a:t>Thank You</a:t>
            </a:r>
          </a:p>
          <a:p>
            <a:pPr algn="ctr"/>
            <a:endParaRPr lang="en-US" dirty="0"/>
          </a:p>
        </p:txBody>
      </p:sp>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6425</TotalTime>
  <Words>3562</Words>
  <Application>Microsoft Office PowerPoint</Application>
  <PresentationFormat>Widescreen</PresentationFormat>
  <Paragraphs>310</Paragraphs>
  <Slides>45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Meiryo</vt:lpstr>
      <vt:lpstr>Abadi</vt:lpstr>
      <vt:lpstr>Arial</vt:lpstr>
      <vt:lpstr>Calibri</vt:lpstr>
      <vt:lpstr>Custom Design</vt:lpstr>
      <vt:lpstr>Understanding the NJ Real Estate Market with 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JIBREEL</cp:lastModifiedBy>
  <cp:revision>260</cp:revision>
  <dcterms:created xsi:type="dcterms:W3CDTF">2021-04-29T18:58:34Z</dcterms:created>
  <dcterms:modified xsi:type="dcterms:W3CDTF">2025-08-12T14:39:58Z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